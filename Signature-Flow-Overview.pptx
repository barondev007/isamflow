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1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1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486400" cy="5486400"/>
          </a:xfrm>
          <a:prstGeom prst="ellipse">
            <a:avLst/>
          </a:prstGeom>
          <a:solidFill>
            <a:srgbClr val="122C5C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108960"/>
            <a:ext cx="3291840" cy="3291840"/>
          </a:xfrm>
          <a:prstGeom prst="ellipse">
            <a:avLst/>
          </a:prstGeom>
          <a:solidFill>
            <a:srgbClr val="1C7293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ISAMFLOW  ·  APIGEE API GATEWAY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&amp; Validating</a:t>
            </a:r>
            <a:endParaRPr lang="en-US" sz="4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Messages at the Gateway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9776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shared-flow signature system works, end to end — written for developers and non-developers alike.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755380" y="1623060"/>
            <a:ext cx="1417320" cy="14173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0" descr="/tmp/claude-0/-home-user-ISAMflow/79b8b998-6fb5-5a61-b212-05c8ac2deff5/scratchpad/pptx/icons/signatur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5537" y="1963217"/>
            <a:ext cx="737006" cy="73700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126980" y="2811780"/>
            <a:ext cx="1417320" cy="1417320"/>
          </a:xfrm>
          <a:prstGeom prst="ellipse">
            <a:avLst/>
          </a:prstGeom>
          <a:solidFill>
            <a:srgbClr val="00C2A8"/>
          </a:solidFill>
          <a:ln/>
        </p:spPr>
      </p:sp>
      <p:pic>
        <p:nvPicPr>
          <p:cNvPr id="10" name="Image 1" descr="/tmp/claude-0/-home-user-ISAMflow/79b8b998-6fb5-5a61-b212-05c8ac2deff5/scratchpad/pptx/icons/shiel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137" y="3151937"/>
            <a:ext cx="737006" cy="73700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755380" y="4000500"/>
            <a:ext cx="1417320" cy="14173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2" name="Image 2" descr="/tmp/claude-0/-home-user-ISAMflow/79b8b998-6fb5-5a61-b212-05c8ac2deff5/scratchpad/pptx/icons/ke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5537" y="4340657"/>
            <a:ext cx="737006" cy="73700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" y="6080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SF-Signature-Router   ·   SF-Signature-Validator   ·   SF-SAML-Extractor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EXISTS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API needs proof its</a:t>
            </a:r>
            <a:endParaRPr lang="en-US" sz="3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messages weren’t tampered with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1460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one system calls another — an order, a payment, an identity claim — the receiver needs two guarantees: this really came from who it claims, and nobody altered it along the way.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adds that proof on the way out. Validating checks it on the way in. Today, every project was solving this on its own.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178040" y="1051560"/>
            <a:ext cx="4297680" cy="1508760"/>
          </a:xfrm>
          <a:prstGeom prst="roundRect">
            <a:avLst>
              <a:gd name="adj" fmla="val 5455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475220" y="1417320"/>
            <a:ext cx="777240" cy="77724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8" name="Image 0" descr="/tmp/claude-0/-home-user-ISAMflow/79b8b998-6fb5-5a61-b212-05c8ac2deff5/scratchpad/pptx/icons/layer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61758" y="160385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412480" y="127101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place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1709928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once as reusable shared flows — not re-implemented inside every API proxy.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178040" y="2761488"/>
            <a:ext cx="4297680" cy="1508760"/>
          </a:xfrm>
          <a:prstGeom prst="roundRect">
            <a:avLst>
              <a:gd name="adj" fmla="val 5455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75220" y="3127248"/>
            <a:ext cx="777240" cy="77724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13" name="Image 1" descr="/tmp/claude-0/-home-user-ISAMflow/79b8b998-6fb5-5a61-b212-05c8ac2deff5/scratchpad/pptx/icons/exchang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758" y="3313786"/>
            <a:ext cx="404165" cy="40416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8412480" y="298094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entry point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3419856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JWT/JWS, HTTP Cavage, and XML-DSig — all reached the same simple way.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178040" y="4471416"/>
            <a:ext cx="4297680" cy="1508760"/>
          </a:xfrm>
          <a:prstGeom prst="roundRect">
            <a:avLst>
              <a:gd name="adj" fmla="val 5455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475220" y="4837176"/>
            <a:ext cx="777240" cy="77724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18" name="Image 2" descr="/tmp/claude-0/-home-user-ISAMflow/79b8b998-6fb5-5a61-b212-05c8ac2deff5/scratchpad/pptx/icons/lo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1758" y="5023714"/>
            <a:ext cx="404165" cy="40416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12480" y="4690872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by default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0" y="5129784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signature can’t be proven valid, the request is rejected — never silently allowed.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gateway, three reusable shared flows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783080" cy="1325880"/>
          </a:xfrm>
          <a:prstGeom prst="roundRect">
            <a:avLst>
              <a:gd name="adj" fmla="val 6207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5860" y="1865376"/>
            <a:ext cx="548640" cy="548640"/>
          </a:xfrm>
          <a:prstGeom prst="ellipse">
            <a:avLst/>
          </a:prstGeom>
          <a:solidFill>
            <a:srgbClr val="5B6B82"/>
          </a:solidFill>
          <a:ln/>
        </p:spPr>
      </p:sp>
      <p:pic>
        <p:nvPicPr>
          <p:cNvPr id="6" name="Image 0" descr="/tmp/claude-0/-home-user-ISAMflow/79b8b998-6fb5-5a61-b212-05c8ac2deff5/scratchpad/pptx/icons/serv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7534" y="1997050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5237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Proxy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331720" y="2400300"/>
            <a:ext cx="731520" cy="0"/>
          </a:xfrm>
          <a:prstGeom prst="line">
            <a:avLst/>
          </a:prstGeom>
          <a:noFill/>
          <a:ln w="2222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063240" y="1737360"/>
            <a:ext cx="3703320" cy="1325880"/>
          </a:xfrm>
          <a:prstGeom prst="roundRect">
            <a:avLst>
              <a:gd name="adj" fmla="val 6207"/>
            </a:avLst>
          </a:prstGeom>
          <a:solidFill>
            <a:srgbClr val="122C5C"/>
          </a:solidFill>
          <a:ln w="12700">
            <a:solidFill>
              <a:srgbClr val="122C5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28416" y="2098548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/tmp/claude-0/-home-user-ISAMflow/79b8b998-6fb5-5a61-b212-05c8ac2deff5/scratchpad/pptx/icons/signatur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257" y="2243389"/>
            <a:ext cx="313822" cy="31382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50792" y="19659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SF-Signature-Router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4050792" y="24505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signature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766560" y="2400300"/>
            <a:ext cx="2560320" cy="0"/>
          </a:xfrm>
          <a:prstGeom prst="line">
            <a:avLst/>
          </a:prstGeom>
          <a:noFill/>
          <a:ln w="2222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9326880" y="1737360"/>
            <a:ext cx="2286000" cy="1325880"/>
          </a:xfrm>
          <a:prstGeom prst="roundRect">
            <a:avLst>
              <a:gd name="adj" fmla="val 6207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0204704" y="1874520"/>
            <a:ext cx="530352" cy="530352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2" descr="/tmp/claude-0/-home-user-ISAMflow/79b8b998-6fb5-5a61-b212-05c8ac2deff5/scratchpad/pptx/icons/clou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1988" y="2001804"/>
            <a:ext cx="275783" cy="27578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26880" y="25237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API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3264408"/>
            <a:ext cx="1783080" cy="1325880"/>
          </a:xfrm>
          <a:prstGeom prst="roundRect">
            <a:avLst>
              <a:gd name="adj" fmla="val 6207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165860" y="3392424"/>
            <a:ext cx="548640" cy="548640"/>
          </a:xfrm>
          <a:prstGeom prst="ellipse">
            <a:avLst/>
          </a:prstGeom>
          <a:solidFill>
            <a:srgbClr val="5B6B82"/>
          </a:solidFill>
          <a:ln/>
        </p:spPr>
      </p:sp>
      <p:pic>
        <p:nvPicPr>
          <p:cNvPr id="21" name="Image 3" descr="/tmp/claude-0/-home-user-ISAMflow/79b8b998-6fb5-5a61-b212-05c8ac2deff5/scratchpad/pptx/icons/server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534" y="3524098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48640" y="40507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Proxy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2331720" y="3927348"/>
            <a:ext cx="731520" cy="0"/>
          </a:xfrm>
          <a:prstGeom prst="line">
            <a:avLst/>
          </a:prstGeom>
          <a:noFill/>
          <a:ln w="2222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3063240" y="3264408"/>
            <a:ext cx="3703320" cy="1325880"/>
          </a:xfrm>
          <a:prstGeom prst="roundRect">
            <a:avLst>
              <a:gd name="adj" fmla="val 6207"/>
            </a:avLst>
          </a:prstGeom>
          <a:solidFill>
            <a:srgbClr val="122C5C"/>
          </a:solidFill>
          <a:ln w="12700">
            <a:solidFill>
              <a:srgbClr val="122C5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3328416" y="3625596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6" name="Image 4" descr="/tmp/claude-0/-home-user-ISAMflow/79b8b998-6fb5-5a61-b212-05c8ac2deff5/scratchpad/pptx/icons/checkCircl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257" y="3770437"/>
            <a:ext cx="313822" cy="31382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050792" y="349300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SF-Signature-Validator</a:t>
            </a:r>
            <a:endParaRPr lang="en-US" sz="1350" dirty="0"/>
          </a:p>
        </p:txBody>
      </p:sp>
      <p:sp>
        <p:nvSpPr>
          <p:cNvPr id="28" name="Text 21"/>
          <p:cNvSpPr txBox="1"/>
          <p:nvPr/>
        </p:nvSpPr>
        <p:spPr>
          <a:xfrm>
            <a:off x="4050792" y="3977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the signature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6766560" y="3927348"/>
            <a:ext cx="2560320" cy="0"/>
          </a:xfrm>
          <a:prstGeom prst="line">
            <a:avLst/>
          </a:prstGeom>
          <a:noFill/>
          <a:ln w="2222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0" name="Shape 23"/>
          <p:cNvSpPr/>
          <p:nvPr/>
        </p:nvSpPr>
        <p:spPr>
          <a:xfrm>
            <a:off x="9326880" y="3264408"/>
            <a:ext cx="2286000" cy="1325880"/>
          </a:xfrm>
          <a:prstGeom prst="roundRect">
            <a:avLst>
              <a:gd name="adj" fmla="val 6207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10204704" y="3401568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32" name="Image 5" descr="/tmp/claude-0/-home-user-ISAMflow/79b8b998-6fb5-5a61-b212-05c8ac2deff5/scratchpad/pptx/icons/database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31988" y="3528852"/>
            <a:ext cx="275783" cy="27578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326880" y="40507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KVM: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"signature"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548640" y="4791456"/>
            <a:ext cx="1783080" cy="1325880"/>
          </a:xfrm>
          <a:prstGeom prst="roundRect">
            <a:avLst>
              <a:gd name="adj" fmla="val 6207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1165860" y="4919472"/>
            <a:ext cx="548640" cy="548640"/>
          </a:xfrm>
          <a:prstGeom prst="ellipse">
            <a:avLst/>
          </a:prstGeom>
          <a:solidFill>
            <a:srgbClr val="5B6B82"/>
          </a:solidFill>
          <a:ln/>
        </p:spPr>
      </p:sp>
      <p:pic>
        <p:nvPicPr>
          <p:cNvPr id="36" name="Image 6" descr="/tmp/claude-0/-home-user-ISAMflow/79b8b998-6fb5-5a61-b212-05c8ac2deff5/scratchpad/pptx/icons/server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7534" y="5051146"/>
            <a:ext cx="285293" cy="285293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48640" y="557784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Proxy</a:t>
            </a:r>
            <a:endParaRPr lang="en-US" sz="1250" dirty="0"/>
          </a:p>
        </p:txBody>
      </p:sp>
      <p:sp>
        <p:nvSpPr>
          <p:cNvPr id="38" name="Shape 29"/>
          <p:cNvSpPr/>
          <p:nvPr/>
        </p:nvSpPr>
        <p:spPr>
          <a:xfrm>
            <a:off x="2331720" y="5454396"/>
            <a:ext cx="731520" cy="0"/>
          </a:xfrm>
          <a:prstGeom prst="line">
            <a:avLst/>
          </a:prstGeom>
          <a:noFill/>
          <a:ln w="22225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9" name="Shape 30"/>
          <p:cNvSpPr/>
          <p:nvPr/>
        </p:nvSpPr>
        <p:spPr>
          <a:xfrm>
            <a:off x="3063240" y="4791456"/>
            <a:ext cx="3703320" cy="1325880"/>
          </a:xfrm>
          <a:prstGeom prst="roundRect">
            <a:avLst>
              <a:gd name="adj" fmla="val 6207"/>
            </a:avLst>
          </a:prstGeom>
          <a:solidFill>
            <a:srgbClr val="122C5C"/>
          </a:solidFill>
          <a:ln w="12700">
            <a:solidFill>
              <a:srgbClr val="122C5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3328416" y="5152644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1" name="Image 7" descr="/tmp/claude-0/-home-user-ISAMflow/79b8b998-6fb5-5a61-b212-05c8ac2deff5/scratchpad/pptx/icons/idCard_whit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3257" y="5297485"/>
            <a:ext cx="313822" cy="31382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4050792" y="5020056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SF-SAML-Extractor</a:t>
            </a:r>
            <a:endParaRPr lang="en-US" sz="1350" dirty="0"/>
          </a:p>
        </p:txBody>
      </p:sp>
      <p:sp>
        <p:nvSpPr>
          <p:cNvPr id="43" name="Text 33"/>
          <p:cNvSpPr txBox="1"/>
          <p:nvPr/>
        </p:nvSpPr>
        <p:spPr>
          <a:xfrm>
            <a:off x="4050792" y="550468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identity claims</a:t>
            </a:r>
            <a:endParaRPr lang="en-US" sz="1150" dirty="0"/>
          </a:p>
        </p:txBody>
      </p:sp>
      <p:sp>
        <p:nvSpPr>
          <p:cNvPr id="44" name="Text 34"/>
          <p:cNvSpPr txBox="1"/>
          <p:nvPr/>
        </p:nvSpPr>
        <p:spPr>
          <a:xfrm>
            <a:off x="9326880" y="51206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(config: one flow</a:t>
            </a:r>
            <a:endParaRPr lang="en-US" sz="11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per proxy)</a:t>
            </a:r>
            <a:endParaRPr lang="en-US" sz="1100" dirty="0"/>
          </a:p>
        </p:txBody>
      </p:sp>
      <p:sp>
        <p:nvSpPr>
          <p:cNvPr id="45" name="Text 35"/>
          <p:cNvSpPr txBox="1"/>
          <p:nvPr/>
        </p:nvSpPr>
        <p:spPr>
          <a:xfrm>
            <a:off x="548640" y="6227064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flow is reached the same way: the calling API proxy sets a flow variable, then invokes it with a FlowCallout.</a:t>
            </a:r>
            <a:endParaRPr lang="en-US" sz="1200" dirty="0"/>
          </a:p>
        </p:txBody>
      </p:sp>
      <p:sp>
        <p:nvSpPr>
          <p:cNvPr id="46" name="Text 3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PATTERN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directions, one pattern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91640"/>
            <a:ext cx="5180076" cy="4709160"/>
          </a:xfrm>
          <a:prstGeom prst="roundRect">
            <a:avLst>
              <a:gd name="adj" fmla="val 174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91640"/>
            <a:ext cx="5180076" cy="777240"/>
          </a:xfrm>
          <a:prstGeom prst="roundRect">
            <a:avLst>
              <a:gd name="adj" fmla="val 10588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103120"/>
            <a:ext cx="5180076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/tmp/claude-0/-home-user-ISAMflow/79b8b998-6fb5-5a61-b212-05c8ac2deff5/scratchpad/pptx/icons/signatur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681" y="1949501"/>
            <a:ext cx="261518" cy="2615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1865376"/>
            <a:ext cx="41742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 · Signing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1033272" y="2798064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33272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2743200"/>
            <a:ext cx="41285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proxy decides what to sign and sets signature.type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33272" y="3694176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33272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639312"/>
            <a:ext cx="41285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SF-Signature-Router loads that proxy’s template from the shared KVM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033272" y="45902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54480" y="4535424"/>
            <a:ext cx="41285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builds the exact bytes to sign — header, payload, digest, or canonical XML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033272" y="54864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033272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554480" y="5431536"/>
            <a:ext cx="41285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signing service computes the signature; the Router attaches it to the message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277356" y="1691640"/>
            <a:ext cx="5180076" cy="4709160"/>
          </a:xfrm>
          <a:prstGeom prst="roundRect">
            <a:avLst>
              <a:gd name="adj" fmla="val 174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77356" y="1691640"/>
            <a:ext cx="5180076" cy="777240"/>
          </a:xfrm>
          <a:prstGeom prst="roundRect">
            <a:avLst>
              <a:gd name="adj" fmla="val 10588"/>
            </a:avLst>
          </a:prstGeom>
          <a:solidFill>
            <a:srgbClr val="122C5C"/>
          </a:solidFill>
          <a:ln w="12700">
            <a:solidFill>
              <a:srgbClr val="122C5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77356" y="2103120"/>
            <a:ext cx="5180076" cy="365760"/>
          </a:xfrm>
          <a:prstGeom prst="rect">
            <a:avLst/>
          </a:prstGeom>
          <a:solidFill>
            <a:srgbClr val="122C5C"/>
          </a:solidFill>
          <a:ln/>
        </p:spPr>
      </p:sp>
      <p:sp>
        <p:nvSpPr>
          <p:cNvPr id="25" name="Shape 22"/>
          <p:cNvSpPr/>
          <p:nvPr/>
        </p:nvSpPr>
        <p:spPr>
          <a:xfrm>
            <a:off x="6528816" y="18288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1" descr="/tmp/claude-0/-home-user-ISAMflow/79b8b998-6fb5-5a61-b212-05c8ac2deff5/scratchpad/pptx/icons/checkCircl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517" y="1949501"/>
            <a:ext cx="261518" cy="26151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146036" y="1865376"/>
            <a:ext cx="41742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· Validating</a:t>
            </a:r>
            <a:endParaRPr lang="en-US" sz="1550" dirty="0"/>
          </a:p>
        </p:txBody>
      </p:sp>
      <p:sp>
        <p:nvSpPr>
          <p:cNvPr id="28" name="Shape 24"/>
          <p:cNvSpPr/>
          <p:nvPr/>
        </p:nvSpPr>
        <p:spPr>
          <a:xfrm>
            <a:off x="6579108" y="2798064"/>
            <a:ext cx="402336" cy="402336"/>
          </a:xfrm>
          <a:prstGeom prst="ellipse">
            <a:avLst/>
          </a:prstGeom>
          <a:solidFill>
            <a:srgbClr val="122C5C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579108" y="2798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7100316" y="2743200"/>
            <a:ext cx="41285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incoming request arrives with a signature; the proxy sets signature.verify.type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6579108" y="3694176"/>
            <a:ext cx="402336" cy="402336"/>
          </a:xfrm>
          <a:prstGeom prst="ellipse">
            <a:avLst/>
          </a:prstGeom>
          <a:solidFill>
            <a:srgbClr val="122C5C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6579108" y="3694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7100316" y="3639312"/>
            <a:ext cx="41285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SF-Signature-Validator loads that proxy’s verification config from the shared KVM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579108" y="4590288"/>
            <a:ext cx="402336" cy="402336"/>
          </a:xfrm>
          <a:prstGeom prst="ellipse">
            <a:avLst/>
          </a:prstGeom>
          <a:solidFill>
            <a:srgbClr val="122C5C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6579108" y="4590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7100316" y="4535424"/>
            <a:ext cx="41285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rebuilds what should have been signed, and checks the signature against it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6579108" y="5486400"/>
            <a:ext cx="402336" cy="402336"/>
          </a:xfrm>
          <a:prstGeom prst="ellipse">
            <a:avLst/>
          </a:prstGeom>
          <a:solidFill>
            <a:srgbClr val="122C5C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6579108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7100316" y="5431536"/>
            <a:ext cx="41285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→ the request continues. Invalid → it’s rejected, fail-closed</a:t>
            </a:r>
            <a:endParaRPr lang="en-US" sz="1300" dirty="0"/>
          </a:p>
        </p:txBody>
      </p:sp>
      <p:sp>
        <p:nvSpPr>
          <p:cNvPr id="40" name="Text 3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GETS SIGNED, AND HOW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signature "languages" the gateway speaks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3429000" cy="4206240"/>
          </a:xfrm>
          <a:prstGeom prst="roundRect">
            <a:avLst>
              <a:gd name="adj" fmla="val 2400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83080"/>
            <a:ext cx="3429000" cy="914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1943100" y="224028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7" name="Image 0" descr="/tmp/claude-0/-home-user-ISAMflow/79b8b998-6fb5-5a61-b212-05c8ac2deff5/scratchpad/pptx/icons/file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4502" y="2481682"/>
            <a:ext cx="523037" cy="52303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05840" y="33832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/ JWS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38679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7515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1051560" y="42976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compact, URL-safe signed token — the most common shape for modern APIs.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1051560" y="5212080"/>
            <a:ext cx="278892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51560" y="5330952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VerifyJWS handles validation, incl. RFC 7515 §4.1.11 "crit" headers.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480560" y="1783080"/>
            <a:ext cx="3429000" cy="4206240"/>
          </a:xfrm>
          <a:prstGeom prst="roundRect">
            <a:avLst>
              <a:gd name="adj" fmla="val 2400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480560" y="1783080"/>
            <a:ext cx="3429000" cy="91440"/>
          </a:xfrm>
          <a:prstGeom prst="rect">
            <a:avLst/>
          </a:prstGeom>
          <a:solidFill>
            <a:srgbClr val="122C5C"/>
          </a:solidFill>
          <a:ln/>
        </p:spPr>
      </p:sp>
      <p:sp>
        <p:nvSpPr>
          <p:cNvPr id="15" name="Shape 12"/>
          <p:cNvSpPr/>
          <p:nvPr/>
        </p:nvSpPr>
        <p:spPr>
          <a:xfrm>
            <a:off x="5692140" y="2240280"/>
            <a:ext cx="1005840" cy="100584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16" name="Image 1" descr="/tmp/claude-0/-home-user-ISAMflow/79b8b998-6fb5-5a61-b212-05c8ac2deff5/scratchpad/pptx/icons/exchang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542" y="2481682"/>
            <a:ext cx="523037" cy="52303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754880" y="33832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Cavage Signature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754880" y="38679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draft-cavage-http-signatures</a:t>
            </a:r>
            <a:endParaRPr lang="en-US" sz="1050" dirty="0"/>
          </a:p>
        </p:txBody>
      </p:sp>
      <p:sp>
        <p:nvSpPr>
          <p:cNvPr id="19" name="Text 15"/>
          <p:cNvSpPr txBox="1"/>
          <p:nvPr/>
        </p:nvSpPr>
        <p:spPr>
          <a:xfrm>
            <a:off x="4800600" y="42976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specific HTTP headers — like a wax seal on an envelope, not the letter itself.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800600" y="5212080"/>
            <a:ext cx="278892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800600" y="5330952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string rebuilt &amp; compared natively; final crypto check still in progress.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8229600" y="1783080"/>
            <a:ext cx="3429000" cy="4206240"/>
          </a:xfrm>
          <a:prstGeom prst="roundRect">
            <a:avLst>
              <a:gd name="adj" fmla="val 2400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229600" y="1783080"/>
            <a:ext cx="3429000" cy="914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4" name="Shape 20"/>
          <p:cNvSpPr/>
          <p:nvPr/>
        </p:nvSpPr>
        <p:spPr>
          <a:xfrm>
            <a:off x="9441180" y="2240280"/>
            <a:ext cx="1005840" cy="10058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5" name="Image 2" descr="/tmp/claude-0/-home-user-ISAMflow/79b8b998-6fb5-5a61-b212-05c8ac2deff5/scratchpad/pptx/icons/fileSignatur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2582" y="2481682"/>
            <a:ext cx="523037" cy="523037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503920" y="33832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Signature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8503920" y="386791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XML-DSig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549640" y="42976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an XML document in place — typical for SOAP- and SAML-style payloads.</a:t>
            </a:r>
            <a:endParaRPr lang="en-US" sz="1250" dirty="0"/>
          </a:p>
        </p:txBody>
      </p:sp>
      <p:sp>
        <p:nvSpPr>
          <p:cNvPr id="29" name="Shape 24"/>
          <p:cNvSpPr/>
          <p:nvPr/>
        </p:nvSpPr>
        <p:spPr>
          <a:xfrm>
            <a:off x="8549640" y="5212080"/>
            <a:ext cx="2788920" cy="0"/>
          </a:xfrm>
          <a:prstGeom prst="line">
            <a:avLst/>
          </a:prstGeom>
          <a:noFill/>
          <a:ln w="12700">
            <a:solidFill>
              <a:srgbClr val="DCE3E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549640" y="5330952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C14N canonicalization + digest, hand-verified against reference output.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SF-SIGNATURE-ROUTER, STEP BY STEP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a request into a signature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8932" y="1828800"/>
            <a:ext cx="1993392" cy="3429000"/>
          </a:xfrm>
          <a:prstGeom prst="roundRect">
            <a:avLst>
              <a:gd name="adj" fmla="val 412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6948" y="19568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61288" y="2446020"/>
            <a:ext cx="868680" cy="86868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8" name="Image 0" descr="/tmp/claude-0/-home-user-ISAMflow/79b8b998-6fb5-5a61-b212-05c8ac2deff5/scratchpad/pptx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9771" y="2654503"/>
            <a:ext cx="451714" cy="45171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" y="352044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type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81812" y="4078224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proxy sets signature.type to jwt, cavage, or xmldsig, then calls the shared flow.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592324" y="3543300"/>
            <a:ext cx="256032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848356" y="1828800"/>
            <a:ext cx="1993392" cy="3429000"/>
          </a:xfrm>
          <a:prstGeom prst="roundRect">
            <a:avLst>
              <a:gd name="adj" fmla="val 412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976372" y="19568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976372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410712" y="2446020"/>
            <a:ext cx="868680" cy="86868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16" name="Image 1" descr="/tmp/claude-0/-home-user-ISAMflow/79b8b998-6fb5-5a61-b212-05c8ac2deff5/scratchpad/pptx/icons/databas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9195" y="2654503"/>
            <a:ext cx="451714" cy="45171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012948" y="352044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config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3031236" y="4078224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Router pulls this proxy’s own template from the shared KVM.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41748" y="3543300"/>
            <a:ext cx="256032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5097780" y="1828800"/>
            <a:ext cx="1993392" cy="3429000"/>
          </a:xfrm>
          <a:prstGeom prst="roundRect">
            <a:avLst>
              <a:gd name="adj" fmla="val 412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5225796" y="19568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225796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5660136" y="2446020"/>
            <a:ext cx="868680" cy="86868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24" name="Image 2" descr="/tmp/claude-0/-home-user-ISAMflow/79b8b998-6fb5-5a61-b212-05c8ac2deff5/scratchpad/pptx/icons/fileCod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619" y="2654503"/>
            <a:ext cx="451714" cy="451714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5262372" y="352044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signing string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5280660" y="4078224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payload, digest, or canonical XML is assembled exactly per spec.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7091172" y="3543300"/>
            <a:ext cx="256032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7347204" y="1828800"/>
            <a:ext cx="1993392" cy="3429000"/>
          </a:xfrm>
          <a:prstGeom prst="roundRect">
            <a:avLst>
              <a:gd name="adj" fmla="val 412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475220" y="19568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7475220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7909560" y="2446020"/>
            <a:ext cx="868680" cy="86868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32" name="Image 3" descr="/tmp/claude-0/-home-user-ISAMflow/79b8b998-6fb5-5a61-b212-05c8ac2deff5/scratchpad/pptx/icons/clou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043" y="2654503"/>
            <a:ext cx="451714" cy="451714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7511796" y="352044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signer</a:t>
            </a:r>
            <a:endParaRPr lang="en-US" sz="1250" dirty="0"/>
          </a:p>
        </p:txBody>
      </p:sp>
      <p:sp>
        <p:nvSpPr>
          <p:cNvPr id="34" name="Text 28"/>
          <p:cNvSpPr txBox="1"/>
          <p:nvPr/>
        </p:nvSpPr>
        <p:spPr>
          <a:xfrm>
            <a:off x="7530084" y="4078224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 signing service does the actual private-key math, off-box.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9340596" y="3543300"/>
            <a:ext cx="256032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36" name="Shape 30"/>
          <p:cNvSpPr/>
          <p:nvPr/>
        </p:nvSpPr>
        <p:spPr>
          <a:xfrm>
            <a:off x="9596628" y="1828800"/>
            <a:ext cx="1993392" cy="3429000"/>
          </a:xfrm>
          <a:prstGeom prst="roundRect">
            <a:avLst>
              <a:gd name="adj" fmla="val 412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37" name="Shape 31"/>
          <p:cNvSpPr/>
          <p:nvPr/>
        </p:nvSpPr>
        <p:spPr>
          <a:xfrm>
            <a:off x="9724644" y="1956816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9724644" y="19568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Shape 33"/>
          <p:cNvSpPr/>
          <p:nvPr/>
        </p:nvSpPr>
        <p:spPr>
          <a:xfrm>
            <a:off x="10158984" y="2446020"/>
            <a:ext cx="868680" cy="86868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40" name="Image 4" descr="/tmp/claude-0/-home-user-ISAMflow/79b8b998-6fb5-5a61-b212-05c8ac2deff5/scratchpad/pptx/icons/checkCircl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7467" y="2654503"/>
            <a:ext cx="451714" cy="45171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761220" y="3520440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result</a:t>
            </a:r>
            <a:endParaRPr lang="en-US" sz="1250" dirty="0"/>
          </a:p>
        </p:txBody>
      </p:sp>
      <p:sp>
        <p:nvSpPr>
          <p:cNvPr id="42" name="Text 35"/>
          <p:cNvSpPr txBox="1"/>
          <p:nvPr/>
        </p:nvSpPr>
        <p:spPr>
          <a:xfrm>
            <a:off x="9779508" y="4078224"/>
            <a:ext cx="16276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compact JWS, a Signature header, or a &lt;Signature&gt; block is attached to the message.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598932" y="5532120"/>
            <a:ext cx="10991088" cy="822960"/>
          </a:xfrm>
          <a:prstGeom prst="roundRect">
            <a:avLst>
              <a:gd name="adj" fmla="val 10000"/>
            </a:avLst>
          </a:prstGeom>
          <a:solidFill>
            <a:srgbClr val="EAF0F7"/>
          </a:solidFill>
          <a:ln w="12700">
            <a:solidFill>
              <a:srgbClr val="C7D4E6"/>
            </a:solidFill>
            <a:prstDash val="solid"/>
          </a:ln>
        </p:spPr>
      </p:sp>
      <p:sp>
        <p:nvSpPr>
          <p:cNvPr id="44" name="Shape 37"/>
          <p:cNvSpPr/>
          <p:nvPr/>
        </p:nvSpPr>
        <p:spPr>
          <a:xfrm>
            <a:off x="754380" y="5715000"/>
            <a:ext cx="457200" cy="457200"/>
          </a:xfrm>
          <a:prstGeom prst="ellipse">
            <a:avLst/>
          </a:prstGeom>
          <a:solidFill>
            <a:srgbClr val="5B6B82"/>
          </a:solidFill>
          <a:ln/>
        </p:spPr>
      </p:sp>
      <p:pic>
        <p:nvPicPr>
          <p:cNvPr id="45" name="Image 5" descr="/tmp/claude-0/-home-user-ISAMflow/79b8b998-6fb5-5a61-b212-05c8ac2deff5/scratchpad/pptx/icons/cog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108" y="5824728"/>
            <a:ext cx="237744" cy="237744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1284732" y="5641848"/>
            <a:ext cx="1012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DEVELOPERS  </a:t>
            </a:r>
            <a:endParaRPr lang="en-US" sz="1100" dirty="0"/>
          </a:p>
        </p:txBody>
      </p:sp>
      <p:sp>
        <p:nvSpPr>
          <p:cNvPr id="47" name="Text 39"/>
          <p:cNvSpPr txBox="1"/>
          <p:nvPr/>
        </p:nvSpPr>
        <p:spPr>
          <a:xfrm>
            <a:off x="1284732" y="5916168"/>
            <a:ext cx="10122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NI-*-Sign placeholders raise a controlled 501 until the real signing-API ServiceCallout is wired in — nothing is silently skipped.</a:t>
            </a:r>
            <a:endParaRPr lang="en-US" sz="1250" dirty="0"/>
          </a:p>
        </p:txBody>
      </p:sp>
      <p:sp>
        <p:nvSpPr>
          <p:cNvPr id="48" name="Text 40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SF-SIGNATURE-VALIDATOR, STEP BY STEP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what came 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8096" y="1783080"/>
            <a:ext cx="2423160" cy="2331720"/>
          </a:xfrm>
          <a:prstGeom prst="roundRect">
            <a:avLst>
              <a:gd name="adj" fmla="val 3529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11096"/>
            <a:ext cx="365760" cy="365760"/>
          </a:xfrm>
          <a:prstGeom prst="ellipse">
            <a:avLst/>
          </a:prstGeom>
          <a:solidFill>
            <a:srgbClr val="122C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591056" y="2354580"/>
            <a:ext cx="777240" cy="77724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8" name="Image 0" descr="/tmp/claude-0/-home-user-ISAMflow/79b8b998-6fb5-5a61-b212-05c8ac2deff5/scratchpad/pptx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77594" y="2541118"/>
            <a:ext cx="404165" cy="40416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32688" y="3264408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verify type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950976" y="3611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proxy stages the incoming signature and sets signature.verify.type.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91256" y="2948940"/>
            <a:ext cx="320040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511296" y="1783080"/>
            <a:ext cx="2423160" cy="2331720"/>
          </a:xfrm>
          <a:prstGeom prst="roundRect">
            <a:avLst>
              <a:gd name="adj" fmla="val 3529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39312" y="1911096"/>
            <a:ext cx="365760" cy="365760"/>
          </a:xfrm>
          <a:prstGeom prst="ellipse">
            <a:avLst/>
          </a:prstGeom>
          <a:solidFill>
            <a:srgbClr val="122C5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39312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34256" y="2354580"/>
            <a:ext cx="777240" cy="77724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16" name="Image 1" descr="/tmp/claude-0/-home-user-ISAMflow/79b8b998-6fb5-5a61-b212-05c8ac2deff5/scratchpad/pptx/icons/databas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794" y="2541118"/>
            <a:ext cx="404165" cy="40416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675888" y="3264408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config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3694176" y="3611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Validator pulls this proxy’s verification settings from the shared KVM.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934456" y="2948940"/>
            <a:ext cx="320040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6254496" y="1783080"/>
            <a:ext cx="2423160" cy="2331720"/>
          </a:xfrm>
          <a:prstGeom prst="roundRect">
            <a:avLst>
              <a:gd name="adj" fmla="val 3529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82512" y="1911096"/>
            <a:ext cx="365760" cy="365760"/>
          </a:xfrm>
          <a:prstGeom prst="ellipse">
            <a:avLst/>
          </a:prstGeom>
          <a:solidFill>
            <a:srgbClr val="122C5C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382512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7077456" y="2354580"/>
            <a:ext cx="777240" cy="77724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24" name="Image 2" descr="/tmp/claude-0/-home-user-ISAMflow/79b8b998-6fb5-5a61-b212-05c8ac2deff5/scratchpad/pptx/icons/checkCirc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994" y="2541118"/>
            <a:ext cx="404165" cy="404165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419088" y="3264408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signature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6437376" y="3611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signature is checked against what the message should actually contain.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8677656" y="2948940"/>
            <a:ext cx="320040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997696" y="1783080"/>
            <a:ext cx="2423160" cy="2331720"/>
          </a:xfrm>
          <a:prstGeom prst="roundRect">
            <a:avLst>
              <a:gd name="adj" fmla="val 3529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9125712" y="1911096"/>
            <a:ext cx="365760" cy="365760"/>
          </a:xfrm>
          <a:prstGeom prst="ellipse">
            <a:avLst/>
          </a:prstGeom>
          <a:solidFill>
            <a:srgbClr val="122C5C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9125712" y="1911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9820656" y="2354580"/>
            <a:ext cx="777240" cy="777240"/>
          </a:xfrm>
          <a:prstGeom prst="ellipse">
            <a:avLst/>
          </a:prstGeom>
          <a:solidFill>
            <a:srgbClr val="122C5C"/>
          </a:solidFill>
          <a:ln/>
        </p:spPr>
      </p:sp>
      <p:pic>
        <p:nvPicPr>
          <p:cNvPr id="32" name="Image 3" descr="/tmp/claude-0/-home-user-ISAMflow/79b8b998-6fb5-5a61-b212-05c8ac2deff5/scratchpad/pptx/icons/shield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194" y="2541118"/>
            <a:ext cx="404165" cy="404165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9162288" y="3264408"/>
            <a:ext cx="2093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or reject</a:t>
            </a:r>
            <a:endParaRPr lang="en-US" sz="1350" dirty="0"/>
          </a:p>
        </p:txBody>
      </p:sp>
      <p:sp>
        <p:nvSpPr>
          <p:cNvPr id="34" name="Text 28"/>
          <p:cNvSpPr txBox="1"/>
          <p:nvPr/>
        </p:nvSpPr>
        <p:spPr>
          <a:xfrm>
            <a:off x="9180576" y="36118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→ the request continues. Invalid → it’s rejected. Fail-closed, always.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768096" y="4617720"/>
            <a:ext cx="5166360" cy="1417320"/>
          </a:xfrm>
          <a:prstGeom prst="roundRect">
            <a:avLst>
              <a:gd name="adj" fmla="val 5806"/>
            </a:avLst>
          </a:prstGeom>
          <a:solidFill>
            <a:srgbClr val="E7F8F4"/>
          </a:solidFill>
          <a:ln w="12700">
            <a:solidFill>
              <a:srgbClr val="BFEAE0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996696" y="505206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pic>
        <p:nvPicPr>
          <p:cNvPr id="37" name="Image 4" descr="/tmp/claude-0/-home-user-ISAMflow/79b8b998-6fb5-5a61-b212-05c8ac2deff5/scratchpad/pptx/icons/checkCircle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8370" y="5183734"/>
            <a:ext cx="285293" cy="285293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636776" y="48006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/ JWS — fully automatic today</a:t>
            </a:r>
            <a:endParaRPr lang="en-US" sz="1300" dirty="0"/>
          </a:p>
        </p:txBody>
      </p:sp>
      <p:sp>
        <p:nvSpPr>
          <p:cNvPr id="39" name="Text 32"/>
          <p:cNvSpPr txBox="1"/>
          <p:nvPr/>
        </p:nvSpPr>
        <p:spPr>
          <a:xfrm>
            <a:off x="1636776" y="51663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VerifyJWS checks the signature math, expiry, and any "crit" headers — no custom code.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6254496" y="4617720"/>
            <a:ext cx="5166360" cy="1417320"/>
          </a:xfrm>
          <a:prstGeom prst="roundRect">
            <a:avLst>
              <a:gd name="adj" fmla="val 5806"/>
            </a:avLst>
          </a:prstGeom>
          <a:solidFill>
            <a:srgbClr val="FCF1E2"/>
          </a:solidFill>
          <a:ln w="12700">
            <a:solidFill>
              <a:srgbClr val="F2DBB2"/>
            </a:solidFill>
            <a:prstDash val="solid"/>
          </a:ln>
        </p:spPr>
      </p:sp>
      <p:sp>
        <p:nvSpPr>
          <p:cNvPr id="41" name="Shape 34"/>
          <p:cNvSpPr/>
          <p:nvPr/>
        </p:nvSpPr>
        <p:spPr>
          <a:xfrm>
            <a:off x="6483096" y="5052060"/>
            <a:ext cx="548640" cy="5486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2" name="Image 5" descr="/tmp/claude-0/-home-user-ISAMflow/79b8b998-6fb5-5a61-b212-05c8ac2deff5/scratchpad/pptx/icons/hourglassHalf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4770" y="5183734"/>
            <a:ext cx="285293" cy="285293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123176" y="48006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Cavage &amp; XML-DSig — in progress</a:t>
            </a:r>
            <a:endParaRPr lang="en-US" sz="1300" dirty="0"/>
          </a:p>
        </p:txBody>
      </p:sp>
      <p:sp>
        <p:nvSpPr>
          <p:cNvPr id="44" name="Text 36"/>
          <p:cNvSpPr txBox="1"/>
          <p:nvPr/>
        </p:nvSpPr>
        <p:spPr>
          <a:xfrm>
            <a:off x="7123176" y="516636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signing string / digest is rebuilt and compared today; the final cryptographic check is still being built.</a:t>
            </a:r>
            <a:endParaRPr lang="en-US" sz="1150" dirty="0"/>
          </a:p>
        </p:txBody>
      </p:sp>
      <p:sp>
        <p:nvSpPr>
          <p:cNvPr id="45" name="Text 37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CONFIGURATION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settings store, many API-specific entries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5029200" cy="4434840"/>
          </a:xfrm>
          <a:prstGeom prst="roundRect">
            <a:avLst>
              <a:gd name="adj" fmla="val 1856"/>
            </a:avLst>
          </a:prstGeom>
          <a:solidFill>
            <a:srgbClr val="122C5C"/>
          </a:solidFill>
          <a:ln w="12700">
            <a:solidFill>
              <a:srgbClr val="122C5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20340" y="2171700"/>
            <a:ext cx="1051560" cy="10515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/tmp/claude-0/-home-user-ISAMflow/79b8b998-6fb5-5a61-b212-05c8ac2deff5/scratchpad/pptx/icons/databas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2714" y="2424074"/>
            <a:ext cx="546811" cy="5468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97280" y="333756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KVM: "signature"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1234440" y="3931920"/>
            <a:ext cx="4023360" cy="411480"/>
          </a:xfrm>
          <a:prstGeom prst="roundRect">
            <a:avLst>
              <a:gd name="adj" fmla="val 48889"/>
            </a:avLst>
          </a:prstGeom>
          <a:solidFill>
            <a:srgbClr val="0C1F42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34440" y="39319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orders-api.jwt-header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1234440" y="4434840"/>
            <a:ext cx="4023360" cy="411480"/>
          </a:xfrm>
          <a:prstGeom prst="roundRect">
            <a:avLst>
              <a:gd name="adj" fmla="val 48889"/>
            </a:avLst>
          </a:prstGeom>
          <a:solidFill>
            <a:srgbClr val="0C1F42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34440" y="4434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orders-api.jwt.verify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1234440" y="4937760"/>
            <a:ext cx="4023360" cy="411480"/>
          </a:xfrm>
          <a:prstGeom prst="roundRect">
            <a:avLst>
              <a:gd name="adj" fmla="val 48889"/>
            </a:avLst>
          </a:prstGeom>
          <a:solidFill>
            <a:srgbClr val="0C1F42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34440" y="49377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payments-api.cavage.headers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1234440" y="5440680"/>
            <a:ext cx="4023360" cy="411480"/>
          </a:xfrm>
          <a:prstGeom prst="roundRect">
            <a:avLst>
              <a:gd name="adj" fmla="val 48889"/>
            </a:avLst>
          </a:prstGeom>
          <a:solidFill>
            <a:srgbClr val="0C1F42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34440" y="5440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orders-api.saml.extract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080760" y="192024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proxy gets its own entry, keyed by its own name.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API means adding a KVM entry — never copy-pasting a policy.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4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pattern covers signing config and verification config alike.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080760" y="3977640"/>
            <a:ext cx="5394960" cy="1874520"/>
          </a:xfrm>
          <a:prstGeom prst="roundRect">
            <a:avLst>
              <a:gd name="adj" fmla="val 4390"/>
            </a:avLst>
          </a:prstGeom>
          <a:solidFill>
            <a:srgbClr val="EAF0F7"/>
          </a:solidFill>
          <a:ln w="12700">
            <a:solidFill>
              <a:srgbClr val="C7D4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236208" y="4686300"/>
            <a:ext cx="457200" cy="457200"/>
          </a:xfrm>
          <a:prstGeom prst="ellipse">
            <a:avLst/>
          </a:prstGeom>
          <a:solidFill>
            <a:srgbClr val="5B6B82"/>
          </a:solidFill>
          <a:ln/>
        </p:spPr>
      </p:sp>
      <p:pic>
        <p:nvPicPr>
          <p:cNvPr id="19" name="Image 1" descr="/tmp/claude-0/-home-user-ISAMflow/79b8b998-6fb5-5a61-b212-05c8ac2deff5/scratchpad/pptx/icons/co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936" y="479602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766560" y="408736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DEVELOPERS  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6766560" y="4361688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Apigee’s KVM name itself can’t be dynamic. So we use one fixed KVM ("signature"), and make the ENTRY KEY dynamic instead — {apiproxy.name}.jwt.verify, etc. — via &lt;Key&gt;&lt;Parameter ref="..."/&gt;&lt;/Key&gt;, which does support a runtime reference.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STORY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can't always take the shortcut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8348" y="187452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98348" y="1874520"/>
            <a:ext cx="2606040" cy="82296"/>
          </a:xfrm>
          <a:prstGeom prst="rect">
            <a:avLst/>
          </a:prstGeom>
          <a:solidFill>
            <a:srgbClr val="5B6B82"/>
          </a:solidFill>
          <a:ln/>
        </p:spPr>
      </p:sp>
      <p:sp>
        <p:nvSpPr>
          <p:cNvPr id="6" name="Shape 4"/>
          <p:cNvSpPr/>
          <p:nvPr/>
        </p:nvSpPr>
        <p:spPr>
          <a:xfrm>
            <a:off x="1367028" y="2354580"/>
            <a:ext cx="868680" cy="868680"/>
          </a:xfrm>
          <a:prstGeom prst="ellipse">
            <a:avLst/>
          </a:prstGeom>
          <a:solidFill>
            <a:srgbClr val="5B6B82"/>
          </a:solidFill>
          <a:ln/>
        </p:spPr>
      </p:sp>
      <p:pic>
        <p:nvPicPr>
          <p:cNvPr id="7" name="Image 0" descr="/tmp/claude-0/-home-user-ISAMflow/79b8b998-6fb5-5a61-b212-05c8ac2deff5/scratchpad/pptx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5511" y="2563063"/>
            <a:ext cx="451714" cy="45171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1228" y="33832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assumed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99516" y="3886200"/>
            <a:ext cx="22037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VerifyJWS could point straight at the Apigee KeyStore by reference — the way other Apigee policies do.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104388" y="3657600"/>
            <a:ext cx="256032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360420" y="187452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60420" y="1874520"/>
            <a:ext cx="2606040" cy="822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Shape 10"/>
          <p:cNvSpPr/>
          <p:nvPr/>
        </p:nvSpPr>
        <p:spPr>
          <a:xfrm>
            <a:off x="4229100" y="2354580"/>
            <a:ext cx="868680" cy="8686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4" name="Image 1" descr="/tmp/claude-0/-home-user-ISAMflow/79b8b998-6fb5-5a61-b212-05c8ac2deff5/scratchpad/pptx/icons/timesCirc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7583" y="2563063"/>
            <a:ext cx="451714" cy="45171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543300" y="33832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proved otherwise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3561588" y="3886200"/>
            <a:ext cx="22037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reference doesn’t actually resolve at runtime — confirmed on our own gateway.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966460" y="3657600"/>
            <a:ext cx="256032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222492" y="187452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222492" y="1874520"/>
            <a:ext cx="2606040" cy="82296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20" name="Shape 16"/>
          <p:cNvSpPr/>
          <p:nvPr/>
        </p:nvSpPr>
        <p:spPr>
          <a:xfrm>
            <a:off x="7091172" y="2354580"/>
            <a:ext cx="868680" cy="86868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1" name="Image 2" descr="/tmp/claude-0/-home-user-ISAMflow/79b8b998-6fb5-5a61-b212-05c8ac2deff5/scratchpad/pptx/icons/warning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655" y="2563063"/>
            <a:ext cx="451714" cy="45171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405372" y="33832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looked for a workaround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6423660" y="3886200"/>
            <a:ext cx="22037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Java plug-in can’t reach the KeyStore either, and calling Apigee’s admin API on every request is a documented anti-pattern.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8828532" y="3657600"/>
            <a:ext cx="256032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9084564" y="1874520"/>
            <a:ext cx="2606040" cy="3566160"/>
          </a:xfrm>
          <a:prstGeom prst="roundRect">
            <a:avLst>
              <a:gd name="adj" fmla="val 3158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084564" y="1874520"/>
            <a:ext cx="2606040" cy="82296"/>
          </a:xfrm>
          <a:prstGeom prst="rect">
            <a:avLst/>
          </a:prstGeom>
          <a:solidFill>
            <a:srgbClr val="00C2A8"/>
          </a:solidFill>
          <a:ln/>
        </p:spPr>
      </p:sp>
      <p:sp>
        <p:nvSpPr>
          <p:cNvPr id="27" name="Shape 22"/>
          <p:cNvSpPr/>
          <p:nvPr/>
        </p:nvSpPr>
        <p:spPr>
          <a:xfrm>
            <a:off x="9953244" y="2354580"/>
            <a:ext cx="868680" cy="868680"/>
          </a:xfrm>
          <a:prstGeom prst="ellipse">
            <a:avLst/>
          </a:prstGeom>
          <a:solidFill>
            <a:srgbClr val="00C2A8"/>
          </a:solidFill>
          <a:ln/>
        </p:spPr>
      </p:sp>
      <p:pic>
        <p:nvPicPr>
          <p:cNvPr id="28" name="Image 3" descr="/tmp/claude-0/-home-user-ISAMflow/79b8b998-6fb5-5a61-b212-05c8ac2deff5/scratchpad/pptx/icons/checkCirc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727" y="2563063"/>
            <a:ext cx="451714" cy="45171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267444" y="33832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9285732" y="3886200"/>
            <a:ext cx="22037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the public key as text once, when the certificate is issued. No runtime KeyStore access needed at all.</a:t>
            </a:r>
            <a:endParaRPr lang="en-US" sz="1150" dirty="0"/>
          </a:p>
        </p:txBody>
      </p:sp>
      <p:sp>
        <p:nvSpPr>
          <p:cNvPr id="31" name="Text 25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RELATED SHARED 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9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identity claims from a SAML header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45236" y="1874520"/>
            <a:ext cx="3291840" cy="3108960"/>
          </a:xfrm>
          <a:prstGeom prst="roundRect">
            <a:avLst>
              <a:gd name="adj" fmla="val 2647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11096" y="2308860"/>
            <a:ext cx="960120" cy="9601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/tmp/claude-0/-home-user-ISAMflow/79b8b998-6fb5-5a61-b212-05c8ac2deff5/scratchpad/pptx/icons/idCar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1525" y="2539289"/>
            <a:ext cx="499262" cy="4992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73836" y="344728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SAML header arrives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019556" y="395935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assertion travels as a header — raw XML or base64-encoded.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037076" y="3429000"/>
            <a:ext cx="411480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448556" y="1874520"/>
            <a:ext cx="3291840" cy="3108960"/>
          </a:xfrm>
          <a:prstGeom prst="roundRect">
            <a:avLst>
              <a:gd name="adj" fmla="val 2647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614416" y="2308860"/>
            <a:ext cx="960120" cy="9601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/tmp/claude-0/-home-user-ISAMflow/79b8b998-6fb5-5a61-b212-05c8ac2deff5/scratchpad/pptx/icons/rout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4845" y="2539289"/>
            <a:ext cx="499262" cy="49926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77156" y="344728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SF-SAML-Extractor decodes it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722876" y="395935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per-proxy "profile" flag selects which native XPath extraction runs.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740396" y="3429000"/>
            <a:ext cx="411480" cy="0"/>
          </a:xfrm>
          <a:prstGeom prst="line">
            <a:avLst/>
          </a:prstGeom>
          <a:noFill/>
          <a:ln w="19050">
            <a:solidFill>
              <a:srgbClr val="5B6B82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8151876" y="1874520"/>
            <a:ext cx="3291840" cy="3108960"/>
          </a:xfrm>
          <a:prstGeom prst="roundRect">
            <a:avLst>
              <a:gd name="adj" fmla="val 2647"/>
            </a:avLst>
          </a:prstGeom>
          <a:solidFill>
            <a:srgbClr val="F3F6FA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317736" y="2308860"/>
            <a:ext cx="960120" cy="9601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8" name="Image 2" descr="/tmp/claude-0/-home-user-ISAMflow/79b8b998-6fb5-5a61-b212-05c8ac2deff5/scratchpad/pptx/icons/checkCirc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8165" y="2539289"/>
            <a:ext cx="499262" cy="49926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0476" y="344728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variables, ready to use</a:t>
            </a:r>
            <a:endParaRPr lang="en-US" sz="1450" dirty="0"/>
          </a:p>
        </p:txBody>
      </p:sp>
      <p:sp>
        <p:nvSpPr>
          <p:cNvPr id="20" name="Text 15"/>
          <p:cNvSpPr txBox="1"/>
          <p:nvPr/>
        </p:nvSpPr>
        <p:spPr>
          <a:xfrm>
            <a:off x="8426196" y="395935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like personId land as ordinary flow variables for the rest of the proxy.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745236" y="5349240"/>
            <a:ext cx="10698480" cy="1005840"/>
          </a:xfrm>
          <a:prstGeom prst="roundRect">
            <a:avLst>
              <a:gd name="adj" fmla="val 8182"/>
            </a:avLst>
          </a:prstGeom>
          <a:solidFill>
            <a:srgbClr val="EAF0F7"/>
          </a:solidFill>
          <a:ln w="12700">
            <a:solidFill>
              <a:srgbClr val="C7D4E6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00684" y="5623560"/>
            <a:ext cx="457200" cy="457200"/>
          </a:xfrm>
          <a:prstGeom prst="ellipse">
            <a:avLst/>
          </a:prstGeom>
          <a:solidFill>
            <a:srgbClr val="5B6B82"/>
          </a:solidFill>
          <a:ln/>
        </p:spPr>
      </p:sp>
      <p:pic>
        <p:nvPicPr>
          <p:cNvPr id="23" name="Image 3" descr="/tmp/claude-0/-home-user-ISAMflow/79b8b998-6fb5-5a61-b212-05c8ac2deff5/scratchpad/pptx/icons/cog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" y="5733288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431036" y="5458968"/>
            <a:ext cx="9829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DEVELOPERS  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1431036" y="5733288"/>
            <a:ext cx="9829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real-world messiness: base64 or raw XML detection, stray unescaped "&amp;" characters, and oversized headers (needs a WAF header-size exception — not a code fix).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BEFORE GO-LIVE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mock signing service for development &amp; testing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3931920" cy="4114800"/>
          </a:xfrm>
          <a:prstGeom prst="roundRect">
            <a:avLst>
              <a:gd name="adj" fmla="val 2093"/>
            </a:avLst>
          </a:prstGeom>
          <a:solidFill>
            <a:srgbClr val="122C5C"/>
          </a:solidFill>
          <a:ln w="12700">
            <a:solidFill>
              <a:srgbClr val="DCE3EC"/>
            </a:solidFill>
            <a:prstDash val="solid"/>
          </a:ln>
          <a:effectLst>
            <a:outerShdw sx="100000" sy="100000" kx="0" ky="0" algn="bl" rotWithShape="0" blurRad="127000" dist="38100" dir="5400000">
              <a:srgbClr val="1B243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11680" y="2423160"/>
            <a:ext cx="1371600" cy="13716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ISAMflow/79b8b998-6fb5-5a61-b212-05c8ac2deff5/scratchpad/pptx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0864" y="2752344"/>
            <a:ext cx="713232" cy="713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3977640"/>
            <a:ext cx="3291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 from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Apigee’s native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AssignMessage policy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zero custom code.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192024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▪"/>
            </a:pPr>
            <a:r>
              <a:rPr lang="en-US" sz="14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Mimics the three real signing endpoints (HMAC compute, HMAC verify, signature compute) with realistic dummy responses.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▪"/>
            </a:pPr>
            <a:r>
              <a:rPr lang="en-US" sz="14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request header, X-Mock-Fail, flips any call over to its failure response on demand.</a:t>
            </a:r>
            <a:endParaRPr lang="en-US" sz="1450" dirty="0"/>
          </a:p>
          <a:p>
            <a:pPr marL="228600" indent="-228600">
              <a:lnSpc>
                <a:spcPct val="115000"/>
              </a:lnSpc>
              <a:spcAft>
                <a:spcPts val="1600"/>
              </a:spcAft>
              <a:buSzPct val="100000"/>
              <a:buChar char="▪"/>
            </a:pPr>
            <a:r>
              <a:rPr lang="en-US" sz="14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teams build and test both the happy path and error handling before the real signing API is wired in.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THINGS STAND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22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22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working today, and what's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7F8F4"/>
          </a:solidFill>
          <a:ln w="12700">
            <a:solidFill>
              <a:srgbClr val="BFEA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2980" y="2034540"/>
            <a:ext cx="594360" cy="594360"/>
          </a:xfrm>
          <a:prstGeom prst="ellipse">
            <a:avLst/>
          </a:prstGeom>
          <a:solidFill>
            <a:srgbClr val="00C2A8"/>
          </a:solidFill>
          <a:ln/>
        </p:spPr>
      </p:sp>
      <p:pic>
        <p:nvPicPr>
          <p:cNvPr id="6" name="Image 0" descr="/tmp/claude-0/-home-user-ISAMflow/79b8b998-6fb5-5a61-b212-05c8ac2deff5/scratchpad/pptx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626" y="217718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208483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today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2880360"/>
            <a:ext cx="4160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Signing-string / digest generation for JWT, Cavage, and XML-DSig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native JWT/JWS validation (VerifyJWS)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 identity-claim extraction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signing service for dev &amp; test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72200" y="182880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CF1E2"/>
          </a:solidFill>
          <a:ln w="12700">
            <a:solidFill>
              <a:srgbClr val="F2DBB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23660" y="2034540"/>
            <a:ext cx="594360" cy="5943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1" name="Image 1" descr="/tmp/claude-0/-home-user-ISAMflow/79b8b998-6fb5-5a61-b212-05c8ac2deff5/scratchpad/pptx/icons/hourglassHalf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306" y="217718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8040" y="2084832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22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629400" y="2880360"/>
            <a:ext cx="4160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SF-Signature-Router to the real external signing service</a:t>
            </a:r>
            <a:endParaRPr lang="en-US" sz="1350" dirty="0"/>
          </a:p>
          <a:p>
            <a:pPr marL="228600" indent="-228600">
              <a:lnSpc>
                <a:spcPct val="115000"/>
              </a:lnSpc>
              <a:spcAft>
                <a:spcPts val="1400"/>
              </a:spcAft>
              <a:buSzPct val="100000"/>
              <a:buChar char="▪"/>
            </a:pPr>
            <a:r>
              <a:rPr lang="en-US" sz="1350" dirty="0">
                <a:solidFill>
                  <a:srgbClr val="1B24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cryptographic signature check for Cavage &amp; XML-DSig validation (a small, well-scoped Java component)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840480"/>
            <a:ext cx="5486400" cy="5486400"/>
          </a:xfrm>
          <a:prstGeom prst="ellipse">
            <a:avLst/>
          </a:prstGeom>
          <a:solidFill>
            <a:srgbClr val="122C5C">
              <a:alpha val="5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once. Trusted everywhere it’s used.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53796" y="27889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53796" y="4206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standards,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entry point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402836" y="27889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402836" y="4206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policies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copy-pasted across APIs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51876" y="278892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</a:t>
            </a:r>
            <a:endParaRPr lang="en-US" sz="3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00C2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51876" y="42062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unverifiable signature</a:t>
            </a:r>
            <a:endParaRPr lang="en-US" sz="13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passes through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9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2026-09-10T19:57:41Z</dcterms:created>
  <dcterms:modified xsi:type="dcterms:W3CDTF">2026-09-10T19:57:41Z</dcterms:modified>
</cp:coreProperties>
</file>