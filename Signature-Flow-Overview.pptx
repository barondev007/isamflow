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1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3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3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400000">
            <a:off x="7543800" y="-3520440"/>
            <a:ext cx="7772400" cy="7772400"/>
          </a:xfrm>
          <a:prstGeom prst="roundRect">
            <a:avLst>
              <a:gd name="adj" fmla="val 14000"/>
            </a:avLst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 rot="2400000">
            <a:off x="8631936" y="-2432304"/>
            <a:ext cx="5596128" cy="5596128"/>
          </a:xfrm>
          <a:prstGeom prst="roundRect">
            <a:avLst>
              <a:gd name="adj" fmla="val 14000"/>
            </a:avLst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 rot="2400000">
            <a:off x="9720072" y="-1344168"/>
            <a:ext cx="3419856" cy="3419856"/>
          </a:xfrm>
          <a:prstGeom prst="roundRect">
            <a:avLst>
              <a:gd name="adj" fmla="val 14000"/>
            </a:avLst>
          </a:prstGeom>
          <a:solidFill>
            <a:srgbClr val="8DC9A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FORTIS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1042416"/>
            <a:ext cx="2313432" cy="0"/>
          </a:xfrm>
          <a:prstGeom prst="line">
            <a:avLst/>
          </a:prstGeom>
          <a:noFill/>
          <a:ln w="25400">
            <a:solidFill>
              <a:srgbClr val="8DC9A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APIGEE API GATEWAY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574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&amp; Validating</a:t>
            </a:r>
            <a:endParaRPr lang="en-US" sz="3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Messages at the Gateway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605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shared-flow signature system works, end to end — the three signature types it speaks, and the KVM settings behind each one. Written for developers and non-developers alike.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983980" y="1988820"/>
            <a:ext cx="1325880" cy="132588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13" name="Image 0" descr="/tmp/claude-0/-home-user-ISAMflow/79b8b998-6fb5-5a61-b212-05c8ac2deff5/scratchpad/pptx/icons/signatu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191" y="2307031"/>
            <a:ext cx="689458" cy="68945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172700" y="3086100"/>
            <a:ext cx="1325880" cy="1325880"/>
          </a:xfrm>
          <a:prstGeom prst="ellipse">
            <a:avLst/>
          </a:prstGeom>
          <a:solidFill>
            <a:srgbClr val="8DC9AA"/>
          </a:solidFill>
          <a:ln/>
        </p:spPr>
      </p:sp>
      <p:pic>
        <p:nvPicPr>
          <p:cNvPr id="15" name="Image 1" descr="/tmp/claude-0/-home-user-ISAMflow/79b8b998-6fb5-5a61-b212-05c8ac2deff5/scratchpad/pptx/icons/shield_dark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911" y="3404311"/>
            <a:ext cx="689458" cy="68945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983980" y="4183380"/>
            <a:ext cx="1325880" cy="132588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17" name="Image 2" descr="/tmp/claude-0/-home-user-ISAMflow/79b8b998-6fb5-5a61-b212-05c8ac2deff5/scratchpad/pptx/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191" y="4501591"/>
            <a:ext cx="689458" cy="6894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SF-Signature-Router   ·   SF-Signature-Validator   ·   SF-SAML-Extractor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needs proof its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weren’t tampered with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97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system calls another — an order, a payment, an identity claim — the receiver needs two guarantees: this really came from who it claims, and nobody altered it along the way.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7764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adds that proof on the way out. Validating checks it on the way in. Today, every project was solving this on its own — and doing it three different ways: JWT/JWS, HTTP Cavage signatures, and XML-DSig.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78040" y="123444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70648" y="1600200"/>
            <a:ext cx="731520" cy="73152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15" name="Image 0" descr="/tmp/claude-0/-home-user-ISAMflow/79b8b998-6fb5-5a61-b212-05c8ac2deff5/scratchpad/pptx/icons/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213" y="1775765"/>
            <a:ext cx="380390" cy="38039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6676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place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183794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as reusable shared flows — not re-implemented inside every API proxy.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78040" y="288036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70648" y="3246120"/>
            <a:ext cx="731520" cy="73152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0" name="Image 1" descr="/tmp/claude-0/-home-user-ISAMflow/79b8b998-6fb5-5a61-b212-05c8ac2deff5/scratchpad/pptx/icons/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213" y="3421685"/>
            <a:ext cx="380390" cy="38039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366760" y="3063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8366760" y="348386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JWT/JWS, HTTP Cavage, and XML-DSig — three signature languages, all reached the same simple way.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178040" y="45262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70648" y="4892040"/>
            <a:ext cx="731520" cy="73152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5" name="Image 2" descr="/tmp/claude-0/-home-user-ISAMflow/79b8b998-6fb5-5a61-b212-05c8ac2deff5/scratchpad/pptx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213" y="5067605"/>
            <a:ext cx="380390" cy="38039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66760" y="4709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default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8366760" y="512978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signature can’t be proven valid, the request is rejected — never silently allowed.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gateway, three reusable shared flows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5004" y="1901952"/>
            <a:ext cx="530352" cy="530352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13" name="Image 0" descr="/tmp/claude-0/-home-user-ISAMflow/79b8b998-6fb5-5a61-b212-05c8ac2deff5/scratchpad/pptx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288" y="2029236"/>
            <a:ext cx="275783" cy="27578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25328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331720" y="2423160"/>
            <a:ext cx="731520" cy="0"/>
          </a:xfrm>
          <a:prstGeom prst="line">
            <a:avLst/>
          </a:prstGeom>
          <a:noFill/>
          <a:ln w="22225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63240" y="178308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007348"/>
          </a:solidFill>
          <a:ln w="12700">
            <a:solidFill>
              <a:srgbClr val="007348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19272" y="2130552"/>
            <a:ext cx="585216" cy="585216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18" name="Image 1" descr="/tmp/claude-0/-home-user-ISAMflow/79b8b998-6fb5-5a61-b212-05c8ac2deff5/scratchpad/pptx/icons/signatu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724" y="2271004"/>
            <a:ext cx="304312" cy="3043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023360" y="200253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SF-Signature-Router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402336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signature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766560" y="2423160"/>
            <a:ext cx="2560320" cy="0"/>
          </a:xfrm>
          <a:prstGeom prst="line">
            <a:avLst/>
          </a:prstGeom>
          <a:noFill/>
          <a:ln w="22225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9326880" y="178308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213848" y="1911096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2" descr="/tmp/claude-0/-home-user-ISAMflow/79b8b998-6fb5-5a61-b212-05c8ac2deff5/scratchpad/pptx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743" y="2033991"/>
            <a:ext cx="266273" cy="26627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326880" y="2532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API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3246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175004" y="3364992"/>
            <a:ext cx="530352" cy="530352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28" name="Image 3" descr="/tmp/claude-0/-home-user-ISAMflow/79b8b998-6fb5-5a61-b212-05c8ac2deff5/scratchpad/pptx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288" y="3492276"/>
            <a:ext cx="275783" cy="27578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48640" y="39959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2331720" y="3886200"/>
            <a:ext cx="731520" cy="0"/>
          </a:xfrm>
          <a:prstGeom prst="line">
            <a:avLst/>
          </a:prstGeom>
          <a:noFill/>
          <a:ln w="22225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3063240" y="324612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007348"/>
          </a:solidFill>
          <a:ln w="12700">
            <a:solidFill>
              <a:srgbClr val="007348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319272" y="3593592"/>
            <a:ext cx="585216" cy="585216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33" name="Image 4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724" y="3734044"/>
            <a:ext cx="304312" cy="30431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023360" y="34655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SF-Signature-Validator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4023360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signature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766560" y="3886200"/>
            <a:ext cx="2560320" cy="0"/>
          </a:xfrm>
          <a:prstGeom prst="line">
            <a:avLst/>
          </a:prstGeom>
          <a:noFill/>
          <a:ln w="22225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9326880" y="324612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0213848" y="3374136"/>
            <a:ext cx="512064" cy="512064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39" name="Image 5" descr="/tmp/claude-0/-home-user-ISAMflow/79b8b998-6fb5-5a61-b212-05c8ac2deff5/scratchpad/pptx/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6743" y="3497031"/>
            <a:ext cx="266273" cy="266273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32688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KVM: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"signature"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48640" y="470916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175004" y="4828032"/>
            <a:ext cx="530352" cy="530352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43" name="Image 6" descr="/tmp/claude-0/-home-user-ISAMflow/79b8b998-6fb5-5a61-b212-05c8ac2deff5/scratchpad/pptx/icons/serv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2288" y="4955316"/>
            <a:ext cx="275783" cy="275783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548640" y="54589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2331720" y="5349240"/>
            <a:ext cx="731520" cy="0"/>
          </a:xfrm>
          <a:prstGeom prst="line">
            <a:avLst/>
          </a:prstGeom>
          <a:noFill/>
          <a:ln w="22225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3063240" y="470916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007348"/>
          </a:solidFill>
          <a:ln w="12700">
            <a:solidFill>
              <a:srgbClr val="007348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3319272" y="5056632"/>
            <a:ext cx="585216" cy="585216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48" name="Image 7" descr="/tmp/claude-0/-home-user-ISAMflow/79b8b998-6fb5-5a61-b212-05c8ac2deff5/scratchpad/pptx/icons/idCar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724" y="5197084"/>
            <a:ext cx="304312" cy="30431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4023360" y="492861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SF-SAML-Extractor</a:t>
            </a:r>
            <a:endParaRPr lang="en-US" sz="1350" dirty="0"/>
          </a:p>
        </p:txBody>
      </p:sp>
      <p:sp>
        <p:nvSpPr>
          <p:cNvPr id="50" name="Text 40"/>
          <p:cNvSpPr txBox="1"/>
          <p:nvPr/>
        </p:nvSpPr>
        <p:spPr>
          <a:xfrm>
            <a:off x="4023360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identity claims</a:t>
            </a:r>
            <a:endParaRPr lang="en-US" sz="1150" dirty="0"/>
          </a:p>
        </p:txBody>
      </p:sp>
      <p:sp>
        <p:nvSpPr>
          <p:cNvPr id="51" name="Text 41"/>
          <p:cNvSpPr txBox="1"/>
          <p:nvPr/>
        </p:nvSpPr>
        <p:spPr>
          <a:xfrm>
            <a:off x="9326880" y="5001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(config: one flow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per proxy)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548640" y="60807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flow is reached the same way: the calling API proxy sets a flow variable, then invokes it with a FlowCallout.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PATTERN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directions, one pattern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5180076" cy="4709160"/>
          </a:xfrm>
          <a:prstGeom prst="roundRect">
            <a:avLst>
              <a:gd name="adj" fmla="val 155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737360"/>
            <a:ext cx="5180076" cy="777240"/>
          </a:xfrm>
          <a:prstGeom prst="roundRect">
            <a:avLst>
              <a:gd name="adj" fmla="val 9412"/>
            </a:avLst>
          </a:prstGeom>
          <a:solidFill>
            <a:srgbClr val="00965E"/>
          </a:solidFill>
          <a:ln w="12700">
            <a:solidFill>
              <a:srgbClr val="0096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121408"/>
            <a:ext cx="5180076" cy="393192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14" name="Shape 12"/>
          <p:cNvSpPr/>
          <p:nvPr/>
        </p:nvSpPr>
        <p:spPr>
          <a:xfrm>
            <a:off x="98298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/tmp/claude-0/-home-user-ISAMflow/79b8b998-6fb5-5a61-b212-05c8ac2deff5/scratchpad/pptx/icons/signatur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681" y="199522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600200" y="1911096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· Signing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033272" y="2816352"/>
            <a:ext cx="402336" cy="402336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2761488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decides what to sign and sets signature.type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33272" y="3712464"/>
            <a:ext cx="402336" cy="402336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3657600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SF-Signature-Router loads that proxy’s template from the shared KVM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33272" y="4608576"/>
            <a:ext cx="402336" cy="402336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33272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55371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the exact bytes to sign — header, payload, digest, or canonical XML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33272" y="5504688"/>
            <a:ext cx="402336" cy="402336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33272" y="5504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554480" y="5449824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signing service computes the signature; the Router attaches it to the message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277356" y="1737360"/>
            <a:ext cx="5180076" cy="4709160"/>
          </a:xfrm>
          <a:prstGeom prst="roundRect">
            <a:avLst>
              <a:gd name="adj" fmla="val 155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277356" y="1737360"/>
            <a:ext cx="5180076" cy="777240"/>
          </a:xfrm>
          <a:prstGeom prst="roundRect">
            <a:avLst>
              <a:gd name="adj" fmla="val 9412"/>
            </a:avLst>
          </a:prstGeom>
          <a:solidFill>
            <a:srgbClr val="007348"/>
          </a:solidFill>
          <a:ln w="12700">
            <a:solidFill>
              <a:srgbClr val="00734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77356" y="2121408"/>
            <a:ext cx="5180076" cy="393192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2" name="Shape 29"/>
          <p:cNvSpPr/>
          <p:nvPr/>
        </p:nvSpPr>
        <p:spPr>
          <a:xfrm>
            <a:off x="6528816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1" descr="/tmp/claude-0/-home-user-ISAMflow/79b8b998-6fb5-5a61-b212-05c8ac2deff5/scratchpad/pptx/icons/checkCircle_dark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17" y="1995221"/>
            <a:ext cx="261518" cy="261518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146036" y="1911096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· Validating</a:t>
            </a:r>
            <a:endParaRPr lang="en-US" sz="1550" dirty="0"/>
          </a:p>
        </p:txBody>
      </p:sp>
      <p:sp>
        <p:nvSpPr>
          <p:cNvPr id="35" name="Shape 31"/>
          <p:cNvSpPr/>
          <p:nvPr/>
        </p:nvSpPr>
        <p:spPr>
          <a:xfrm>
            <a:off x="6579108" y="2816352"/>
            <a:ext cx="402336" cy="402336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579108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7100316" y="2761488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incoming request arrives with a signature; the proxy sets signature.verify.type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579108" y="3712464"/>
            <a:ext cx="402336" cy="402336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657910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7100316" y="3657600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SF-Signature-Validator loads that proxy’s verification config from the shared KVM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579108" y="4608576"/>
            <a:ext cx="402336" cy="402336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657910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7100316" y="455371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rebuilds what should have been signed, and checks the signature against it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6579108" y="5504688"/>
            <a:ext cx="402336" cy="402336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6579108" y="5504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7100316" y="5449824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the request continues. Invalid → it’s rejected, fail-closed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SIGNED, AND HOW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signature "languages" the gateway speaks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828800"/>
            <a:ext cx="3429000" cy="91440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2286000"/>
            <a:ext cx="1005840" cy="10058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14" name="Image 0" descr="/tmp/claude-0/-home-user-ISAMflow/79b8b998-6fb5-5a61-b212-05c8ac2deff5/scratchpad/pptx/icons/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502" y="2527402"/>
            <a:ext cx="523037" cy="52303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0584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JWS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9136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7515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427939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URL-safe signed token — the most common shape for modern APIs.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051560" y="5166360"/>
            <a:ext cx="2788920" cy="0"/>
          </a:xfrm>
          <a:prstGeom prst="line">
            <a:avLst/>
          </a:prstGeom>
          <a:noFill/>
          <a:ln w="12700">
            <a:solidFill>
              <a:srgbClr val="D6E9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52852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KVM entries: jwt.header, jwt.output, jwt.verify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80560" y="18288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80560" y="1828800"/>
            <a:ext cx="3429000" cy="91440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22" name="Shape 19"/>
          <p:cNvSpPr/>
          <p:nvPr/>
        </p:nvSpPr>
        <p:spPr>
          <a:xfrm>
            <a:off x="5692140" y="2286000"/>
            <a:ext cx="1005840" cy="10058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3" name="Image 1" descr="/tmp/claude-0/-home-user-ISAMflow/79b8b998-6fb5-5a61-b212-05c8ac2deff5/scratchpad/pptx/icons/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542" y="2527402"/>
            <a:ext cx="523037" cy="52303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75488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Cavage Signature</a:t>
            </a:r>
            <a:endParaRPr lang="en-US" sz="1650" dirty="0"/>
          </a:p>
        </p:txBody>
      </p:sp>
      <p:sp>
        <p:nvSpPr>
          <p:cNvPr id="25" name="Text 21"/>
          <p:cNvSpPr txBox="1"/>
          <p:nvPr/>
        </p:nvSpPr>
        <p:spPr>
          <a:xfrm>
            <a:off x="4754880" y="39136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draft-cavage-http-signatures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800600" y="427939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specific HTTP headers — like a wax seal on an envelope, not the letter itself.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4800600" y="5166360"/>
            <a:ext cx="2788920" cy="0"/>
          </a:xfrm>
          <a:prstGeom prst="line">
            <a:avLst/>
          </a:prstGeom>
          <a:noFill/>
          <a:ln w="12700">
            <a:solidFill>
              <a:srgbClr val="D6E9D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00600" y="52852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KVM entry today: cavage.headers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229600" y="18288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229600" y="1828800"/>
            <a:ext cx="3429000" cy="91440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31" name="Shape 27"/>
          <p:cNvSpPr/>
          <p:nvPr/>
        </p:nvSpPr>
        <p:spPr>
          <a:xfrm>
            <a:off x="9441180" y="2286000"/>
            <a:ext cx="1005840" cy="10058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32" name="Image 2" descr="/tmp/claude-0/-home-user-ISAMflow/79b8b998-6fb5-5a61-b212-05c8ac2deff5/scratchpad/pptx/icons/fileSignatu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582" y="2527402"/>
            <a:ext cx="523037" cy="523037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50392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Signature</a:t>
            </a:r>
            <a:endParaRPr lang="en-US" sz="1650" dirty="0"/>
          </a:p>
        </p:txBody>
      </p:sp>
      <p:sp>
        <p:nvSpPr>
          <p:cNvPr id="34" name="Text 29"/>
          <p:cNvSpPr txBox="1"/>
          <p:nvPr/>
        </p:nvSpPr>
        <p:spPr>
          <a:xfrm>
            <a:off x="8503920" y="39136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XML-DSig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8549640" y="427939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an XML document in place — typical for SOAP- and SAML-style payloads.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8549640" y="5166360"/>
            <a:ext cx="2788920" cy="0"/>
          </a:xfrm>
          <a:prstGeom prst="line">
            <a:avLst/>
          </a:prstGeom>
          <a:noFill/>
          <a:ln w="12700">
            <a:solidFill>
              <a:srgbClr val="D6E9DE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549640" y="52852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KVM entry today: xmldsig.verify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TYPE 1 OF 3  ·  JWT / JWS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JWS — a signed, URL-safe token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916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JWS (JSON Web Signature, RFC 7515) is three base64url segments joined by dots. This gateway signs and verifies both shapes: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2915107" cy="566928"/>
          </a:xfrm>
          <a:prstGeom prst="roundRect">
            <a:avLst>
              <a:gd name="adj" fmla="val 9677"/>
            </a:avLst>
          </a:prstGeom>
          <a:solidFill>
            <a:srgbClr val="0073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340864"/>
            <a:ext cx="2915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78608"/>
            <a:ext cx="2915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alg, kid, crit…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1491" y="2286000"/>
            <a:ext cx="4612234" cy="566928"/>
          </a:xfrm>
          <a:prstGeom prst="roundRect">
            <a:avLst>
              <a:gd name="adj" fmla="val 9677"/>
            </a:avLst>
          </a:prstGeom>
          <a:solidFill>
            <a:srgbClr val="0096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01491" y="2340864"/>
            <a:ext cx="461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701491" y="2578608"/>
            <a:ext cx="461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claims / business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68589" y="2286000"/>
            <a:ext cx="2969971" cy="566928"/>
          </a:xfrm>
          <a:prstGeom prst="roundRect">
            <a:avLst>
              <a:gd name="adj" fmla="val 9677"/>
            </a:avLst>
          </a:prstGeom>
          <a:solidFill>
            <a:srgbClr val="8DC9A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8589" y="2340864"/>
            <a:ext cx="29699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68589" y="2578608"/>
            <a:ext cx="29699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1 + 2 are untouched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9626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base64url(header)  .  base64url(payload)  .  base64url(signature)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15468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4" name="Image 0" descr="/tmp/claude-0/-home-user-ISAMflow/79b8b998-6fb5-5a61-b212-05c8ac2deff5/scratchpad/pptx/icons/box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3469234"/>
            <a:ext cx="285293" cy="285293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600200" y="3374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0690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segments travel together, e.g. inside a request/response header.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shape — self-contained, nothing else to fetch.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315468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3337560"/>
            <a:ext cx="548640" cy="54864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29" name="Image 1" descr="/tmp/claude-0/-home-user-ISAMflow/79b8b998-6fb5-5a61-b212-05c8ac2deff5/scratchpad/pptx/icons/code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3469234"/>
            <a:ext cx="285293" cy="285293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086600" y="3374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</a:t>
            </a:r>
            <a:endParaRPr lang="en-US" sz="1450" dirty="0"/>
          </a:p>
        </p:txBody>
      </p:sp>
      <p:sp>
        <p:nvSpPr>
          <p:cNvPr id="31" name="Text 27"/>
          <p:cNvSpPr txBox="1"/>
          <p:nvPr/>
        </p:nvSpPr>
        <p:spPr>
          <a:xfrm>
            <a:off x="6400800" y="40690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 segment is stripped out of the wire format — only header..signature is sent.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payload is the response body itself: no point encoding it twice.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re-attaches the real payload (from response.content) before checking.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31520" y="566928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05256" y="5843016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34" name="Image 2" descr="/tmp/claude-0/-home-user-ISAMflow/79b8b998-6fb5-5a61-b212-05c8ac2deff5/scratchpad/pptx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06" y="5943966"/>
            <a:ext cx="218724" cy="21872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389888" y="5742432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1389888" y="5980176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7515 §4.1.11 "crit": the header can list custom header names the verifier MUST understand and enforce, or reject the token — handled natively via VerifyJWS’s KnownHeaders.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TYPE 1 OF 3  ·  JWT / JWS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JWS — the KVM parameters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SF-Signature-Router  ·  signing side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55648"/>
          <a:ext cx="10725912" cy="914400"/>
        </p:xfrm>
        <a:graphic>
          <a:graphicData uri="http://schemas.openxmlformats.org/drawingml/2006/table">
            <a:tbl>
              <a:tblPr/>
              <a:tblGrid>
                <a:gridCol w="2574219"/>
                <a:gridCol w="1716146"/>
                <a:gridCol w="643554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KVM entry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configures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{proxy}.jwt.header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object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JOSE header template merged into every JWS this proxy signs: typ, alg, kid, iss, plus engine-generated iat/exp/jti and custom claims via "${flow.var}" substitution (e.g. sub, x-txn-id). "crit" lists which of those custom names the verifier must enforce.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{proxy}.jwt.output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request header name the finished JWS is written into — e.g. "X-JWS-Signature". Read by AM/JS-JWT-Set-Output-Header.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731520" y="3429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SF-Signature-Validator  ·  verification side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03320"/>
          <a:ext cx="10725912" cy="914400"/>
        </p:xfrm>
        <a:graphic>
          <a:graphicData uri="http://schemas.openxmlformats.org/drawingml/2006/table">
            <a:tbl>
              <a:tblPr/>
              <a:tblGrid>
                <a:gridCol w="2574219"/>
                <a:gridCol w="2145182"/>
                <a:gridCol w="600651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KVM entry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configures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{proxy}.jwt.verify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publicKeyPem  /  jwksUri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non-empty: a static PEM public key (no network call), OR a JWKS endpoint URL — the key is then resolved by "kid" and cached (see the JWKS slide).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knownHeaders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list fed to VerifyJWS’s KnownHeaders — enforces the "crit" rule above.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string "true" or "" — whether this proxy’s JWS is compact or detached; also drives whether the response payload gets auto-staged for verification.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731520" y="534924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5256" y="5522976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17" name="Image 0" descr="/tmp/claude-0/-home-user-ISAMflow/79b8b998-6fb5-5a61-b212-05c8ac2deff5/scratchpad/pptx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206" y="5623926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89888" y="5422392"/>
            <a:ext cx="9902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1389888" y="5660136"/>
            <a:ext cx="9902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KVM named "signature"; the per-proxy identity lives in the ENTRY KEY ("{apiproxy.name}.jwt.verify"), not the KVM name — see the KVM Pattern slide.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TYPE 2 OF 3  ·  HTTP CAVAGE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Cavage Signature — signing the envelope, not the letter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draft-cavage-http-signatures signs a chosen SET of HTTP headers and pseudo-headers — never the body directly. The signer builds a "signing string" by concatenating "name: value" lines in a fixed order, then signs that string. The result travels in a Signature header that names its own keyId, algorithm, validity window, and header list.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5211B"/>
          </a:solidFill>
          <a:ln w="12700">
            <a:solidFill>
              <a:srgbClr val="1521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90779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keyId="orders-api-2026-01", algorithm="rsa-sha256", created=1700000000, expires=1700000300,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headers="(request-target) (created) (expires) host x-request-id digest", signature="base64…"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SF-Signature-Router  ·  signing side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15384"/>
          <a:ext cx="10725912" cy="914400"/>
        </p:xfrm>
        <a:graphic>
          <a:graphicData uri="http://schemas.openxmlformats.org/drawingml/2006/table">
            <a:tbl>
              <a:tblPr/>
              <a:tblGrid>
                <a:gridCol w="3217774"/>
                <a:gridCol w="1716146"/>
                <a:gridCol w="5791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KVM entry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configures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{proxy}.cavage.headers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array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ordered list of header / pseudo-header names — e.g. (request-target), (created), (expires), host, x-request-id, digest — concatenated into the signing string.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31520" y="507492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CF1E2"/>
          </a:solidFill>
          <a:ln w="12700">
            <a:solidFill>
              <a:srgbClr val="F2DB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5256" y="5248656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18" name="Image 0" descr="/tmp/claude-0/-home-user-ISAMflow/79b8b998-6fb5-5a61-b212-05c8ac2deff5/scratchpad/pptx/icons/hourglassHal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206" y="5349606"/>
            <a:ext cx="218724" cy="21872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89888" y="5148072"/>
            <a:ext cx="9902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389888" y="5385816"/>
            <a:ext cx="99029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side has no KVM entry yet: the header list is read back out of the incoming Signature header’s own "headers" parameter (self-describing). The keyId → verification key mapping is still the NI-Cavage-Verify-Signature placeholder — it needs a JavaCallout (no native Apigee policy checks a raw-string signature) and, once built, likely its own per-proxy KVM entry, same pattern as JWT/XML-DSig.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TYPE 3 OF 3  ·  XML-DSIG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Signature — signing the document in place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57276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XML Signature signs an XML document by inserting a &lt;Signature&gt; block into it (an "enveloped" signature): canonicalize the referenced content with Exclusive C14N, digest it, then wrap SignedInfo + SignatureValue + KeyInfo together. Verification runs the same canonicalization + digest + SignatureValue check with the JDK’s built-in JSR 105 API (javax.xml.crypto.dsig) — no extra library.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0956" y="2542032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07348"/>
          </a:solidFill>
          <a:ln w="12700">
            <a:solidFill>
              <a:srgbClr val="0073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3836" y="26334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Canonicalize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(Exclusive C14N)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91356" y="2930652"/>
            <a:ext cx="502920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94276" y="2542032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0965E"/>
          </a:solidFill>
          <a:ln w="12700">
            <a:solidFill>
              <a:srgbClr val="0096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77156" y="26334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the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element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94676" y="2930652"/>
            <a:ext cx="502920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97596" y="2542032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8DC9AA"/>
          </a:solidFill>
          <a:ln w="12700">
            <a:solidFill>
              <a:srgbClr val="8DC9A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0476" y="26334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SignedInfo +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SignatureValue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90956" y="34107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algorithm / structure allow-list is enforced server-side (never trust what the incoming XML claims) — the standard defence against XML-Signature "wrapping" attacks.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SF-Signature-Validator  ·  verification side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059936"/>
          <a:ext cx="10725912" cy="914400"/>
        </p:xfrm>
        <a:graphic>
          <a:graphicData uri="http://schemas.openxmlformats.org/drawingml/2006/table">
            <a:tbl>
              <a:tblPr/>
              <a:tblGrid>
                <a:gridCol w="3003255"/>
                <a:gridCol w="1930664"/>
                <a:gridCol w="5791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KVM entry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configures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{proxy}.xmldsig.verify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publicKeyPem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 public key, same PEM-in-KVM pattern as JWT — pasted once when the certificate is issued/rotated, never read from the KeyStore at request time.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"RSA" or "EC" — optional, defaults to "RSA" if empty. Tells the JavaCallout how to rebuild the java.security.PublicKey from the PEM bytes.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B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" y="5623560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CF1E2"/>
          </a:solidFill>
          <a:ln w="12700">
            <a:solidFill>
              <a:srgbClr val="F2DBB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5256" y="5797296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25" name="Image 0" descr="/tmp/claude-0/-home-user-ISAMflow/79b8b998-6fb5-5a61-b212-05c8ac2deff5/scratchpad/pptx/icons/hourglassHal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206" y="5898246"/>
            <a:ext cx="218724" cy="21872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389888" y="5696712"/>
            <a:ext cx="9902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389888" y="5934456"/>
            <a:ext cx="9902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side has no KVM entry yet either: signatureMethod today comes from a caller-set flow variable with a built-in default — NI-Signature-XmlDsig-Sign is still waiting on the real signing-API call.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SF-SIGNATURE-ROUTER, STEP BY STEP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request into a signature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" y="1874520"/>
            <a:ext cx="1993392" cy="33375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" y="2002536"/>
            <a:ext cx="365760" cy="365760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61288" y="2491740"/>
            <a:ext cx="868680" cy="86868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15" name="Image 0" descr="/tmp/claude-0/-home-user-ISAMflow/79b8b998-6fb5-5a61-b212-05c8ac2deff5/scratchpad/pptx/icons/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771" y="2700223"/>
            <a:ext cx="451714" cy="45171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63524" y="356616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type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81812" y="4123944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sets signature.type to jwt, cavage, or xmldsig, then calls the shared flow.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92324" y="354330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848356" y="1874520"/>
            <a:ext cx="1993392" cy="33375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6372" y="2002536"/>
            <a:ext cx="365760" cy="365760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97637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410712" y="2491740"/>
            <a:ext cx="868680" cy="86868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3" name="Image 1" descr="/tmp/claude-0/-home-user-ISAMflow/79b8b998-6fb5-5a61-b212-05c8ac2deff5/scratchpad/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195" y="2700223"/>
            <a:ext cx="451714" cy="45171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012948" y="356616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config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031236" y="4123944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pulls this proxy’s own template from the shared KVM.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41748" y="354330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5097780" y="1874520"/>
            <a:ext cx="1993392" cy="33375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225796" y="2002536"/>
            <a:ext cx="365760" cy="365760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225796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660136" y="2491740"/>
            <a:ext cx="868680" cy="86868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31" name="Image 2" descr="/tmp/claude-0/-home-user-ISAMflow/79b8b998-6fb5-5a61-b212-05c8ac2deff5/scratchpad/pptx/icons/file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2700223"/>
            <a:ext cx="451714" cy="45171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62372" y="356616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signing string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5280660" y="4123944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header, payload, digest, or canonical XML is assembled exactly per spec.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7091172" y="354330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7347204" y="1874520"/>
            <a:ext cx="1993392" cy="33375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475220" y="2002536"/>
            <a:ext cx="365760" cy="365760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747522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7909560" y="2491740"/>
            <a:ext cx="868680" cy="86868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39" name="Image 3" descr="/tmp/claude-0/-home-user-ISAMflow/79b8b998-6fb5-5a61-b212-05c8ac2deff5/scratchpad/pptx/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043" y="2700223"/>
            <a:ext cx="451714" cy="45171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511796" y="356616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signer</a:t>
            </a:r>
            <a:endParaRPr lang="en-US" sz="1250" dirty="0"/>
          </a:p>
        </p:txBody>
      </p:sp>
      <p:sp>
        <p:nvSpPr>
          <p:cNvPr id="41" name="Text 35"/>
          <p:cNvSpPr txBox="1"/>
          <p:nvPr/>
        </p:nvSpPr>
        <p:spPr>
          <a:xfrm>
            <a:off x="7530084" y="4123944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signing service does the actual private-key math, off-box.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9340596" y="354330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9596628" y="1874520"/>
            <a:ext cx="1993392" cy="33375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9724644" y="2002536"/>
            <a:ext cx="365760" cy="365760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724644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Shape 40"/>
          <p:cNvSpPr/>
          <p:nvPr/>
        </p:nvSpPr>
        <p:spPr>
          <a:xfrm>
            <a:off x="10158984" y="2491740"/>
            <a:ext cx="868680" cy="86868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47" name="Image 4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7467" y="2700223"/>
            <a:ext cx="451714" cy="45171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9761220" y="356616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result</a:t>
            </a:r>
            <a:endParaRPr lang="en-US" sz="1250" dirty="0"/>
          </a:p>
        </p:txBody>
      </p:sp>
      <p:sp>
        <p:nvSpPr>
          <p:cNvPr id="49" name="Text 42"/>
          <p:cNvSpPr txBox="1"/>
          <p:nvPr/>
        </p:nvSpPr>
        <p:spPr>
          <a:xfrm>
            <a:off x="9779508" y="4123944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JWS, a Signature header, or a &lt;Signature&gt; block is attached to the message.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598932" y="5440680"/>
            <a:ext cx="10991088" cy="777240"/>
          </a:xfrm>
          <a:prstGeom prst="roundRect">
            <a:avLst>
              <a:gd name="adj" fmla="val 9412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772668" y="5614416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52" name="Image 5" descr="/tmp/claude-0/-home-user-ISAMflow/79b8b998-6fb5-5a61-b212-05c8ac2deff5/scratchpad/pptx/icons/co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618" y="5715366"/>
            <a:ext cx="218724" cy="218724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1257300" y="5513832"/>
            <a:ext cx="10168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54" name="Text 46"/>
          <p:cNvSpPr txBox="1"/>
          <p:nvPr/>
        </p:nvSpPr>
        <p:spPr>
          <a:xfrm>
            <a:off x="1257300" y="5751576"/>
            <a:ext cx="10168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NI-*-Sign placeholders raise a controlled 501 until the real signing-API ServiceCallout is wired in — nothing is silently skipped.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SF-SIGNATURE-VALIDATOR, STEP BY STEP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what came 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" y="1783080"/>
            <a:ext cx="2423160" cy="2194560"/>
          </a:xfrm>
          <a:prstGeom prst="roundRect">
            <a:avLst>
              <a:gd name="adj" fmla="val 333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1911096"/>
            <a:ext cx="365760" cy="365760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591056" y="230886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15" name="Image 0" descr="/tmp/claude-0/-home-user-ISAMflow/79b8b998-6fb5-5a61-b212-05c8ac2deff5/scratchpad/pptx/icons/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594" y="2495398"/>
            <a:ext cx="404165" cy="40416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3268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verify type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950976" y="35387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stages the incoming signature and sets signature.verify.type.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91256" y="2880360"/>
            <a:ext cx="320040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511296" y="1783080"/>
            <a:ext cx="2423160" cy="2194560"/>
          </a:xfrm>
          <a:prstGeom prst="roundRect">
            <a:avLst>
              <a:gd name="adj" fmla="val 333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39312" y="1911096"/>
            <a:ext cx="365760" cy="365760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639312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334256" y="230886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3" name="Image 1" descr="/tmp/claude-0/-home-user-ISAMflow/79b8b998-6fb5-5a61-b212-05c8ac2deff5/scratchpad/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794" y="2495398"/>
            <a:ext cx="404165" cy="40416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67588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config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3694176" y="35387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pulls this proxy’s verification settings from the shared KVM.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934456" y="2880360"/>
            <a:ext cx="320040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6254496" y="1783080"/>
            <a:ext cx="2423160" cy="2194560"/>
          </a:xfrm>
          <a:prstGeom prst="roundRect">
            <a:avLst>
              <a:gd name="adj" fmla="val 333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82512" y="1911096"/>
            <a:ext cx="365760" cy="365760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382512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077456" y="230886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31" name="Image 2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4" y="2495398"/>
            <a:ext cx="404165" cy="40416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41908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signature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6437376" y="35387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is checked against what the message should actually contain.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677656" y="2880360"/>
            <a:ext cx="320040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8997696" y="1783080"/>
            <a:ext cx="2423160" cy="2194560"/>
          </a:xfrm>
          <a:prstGeom prst="roundRect">
            <a:avLst>
              <a:gd name="adj" fmla="val 3333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125712" y="1911096"/>
            <a:ext cx="365760" cy="365760"/>
          </a:xfrm>
          <a:prstGeom prst="ellipse">
            <a:avLst/>
          </a:prstGeom>
          <a:solidFill>
            <a:srgbClr val="00734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125712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9820656" y="230886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39" name="Image 3" descr="/tmp/claude-0/-home-user-ISAMflow/79b8b998-6fb5-5a61-b212-05c8ac2deff5/scratchpad/pptx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194" y="2495398"/>
            <a:ext cx="404165" cy="40416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16228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or reject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9180576" y="35387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the request continues. Invalid → it’s rejected. Fail-closed, always.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768096" y="443484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E4F4EB"/>
          </a:solidFill>
          <a:ln w="12700">
            <a:solidFill>
              <a:srgbClr val="BFE0CD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996696" y="4937760"/>
            <a:ext cx="548640" cy="54864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44" name="Image 4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370" y="5069434"/>
            <a:ext cx="285293" cy="28529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636776" y="4617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JWT/JWS &amp; XML-DSig — fully verified today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1636776" y="50566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VerifyJWS handles JWT math, expiry, and "crit" natively; a JSR-105 JavaCallout handles the full XML-DSig check, incl. the cryptographic SignatureValue.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6254496" y="443484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CF1E2"/>
          </a:solidFill>
          <a:ln w="12700">
            <a:solidFill>
              <a:srgbClr val="F2DBB2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6483096" y="49377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9" name="Image 5" descr="/tmp/claude-0/-home-user-ISAMflow/79b8b998-6fb5-5a61-b212-05c8ac2deff5/scratchpad/pptx/icons/hourglassHalf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70" y="5069434"/>
            <a:ext cx="285293" cy="285293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7123176" y="4617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Cavage — in progress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7123176" y="50566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signing string is rebuilt and compared today; the final cryptographic signature-value check still needs a JavaCallout (no native policy exists for it).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CONFIGURATION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settings store, many API-specific entries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007348"/>
          </a:solidFill>
          <a:ln w="12700">
            <a:solidFill>
              <a:srgbClr val="007348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2103120"/>
            <a:ext cx="1005840" cy="100584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13" name="Image 0" descr="/tmp/claude-0/-home-user-ISAMflow/79b8b998-6fb5-5a61-b212-05c8ac2deff5/scratchpad/pptx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602" y="2344522"/>
            <a:ext cx="523037" cy="52303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97280" y="3200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KVM: "signature"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34440" y="3703320"/>
            <a:ext cx="4023360" cy="402336"/>
          </a:xfrm>
          <a:prstGeom prst="roundRect">
            <a:avLst>
              <a:gd name="adj" fmla="val 50000"/>
            </a:avLst>
          </a:prstGeom>
          <a:solidFill>
            <a:srgbClr val="005E3B"/>
          </a:solidFill>
          <a:ln w="9525">
            <a:solidFill>
              <a:srgbClr val="8DC9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34440" y="37033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orders-api.jwt.header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4187952"/>
            <a:ext cx="4023360" cy="402336"/>
          </a:xfrm>
          <a:prstGeom prst="roundRect">
            <a:avLst>
              <a:gd name="adj" fmla="val 50000"/>
            </a:avLst>
          </a:prstGeom>
          <a:solidFill>
            <a:srgbClr val="005E3B"/>
          </a:solidFill>
          <a:ln w="9525">
            <a:solidFill>
              <a:srgbClr val="8DC9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34440" y="41879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orders-api.jwt.output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234440" y="4672584"/>
            <a:ext cx="4023360" cy="402336"/>
          </a:xfrm>
          <a:prstGeom prst="roundRect">
            <a:avLst>
              <a:gd name="adj" fmla="val 50000"/>
            </a:avLst>
          </a:prstGeom>
          <a:solidFill>
            <a:srgbClr val="005E3B"/>
          </a:solidFill>
          <a:ln w="9525">
            <a:solidFill>
              <a:srgbClr val="8DC9A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34440" y="46725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orders-api.jwt.verify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234440" y="5157216"/>
            <a:ext cx="4023360" cy="402336"/>
          </a:xfrm>
          <a:prstGeom prst="roundRect">
            <a:avLst>
              <a:gd name="adj" fmla="val 50000"/>
            </a:avLst>
          </a:prstGeom>
          <a:solidFill>
            <a:srgbClr val="005E3B"/>
          </a:solidFill>
          <a:ln w="9525">
            <a:solidFill>
              <a:srgbClr val="8DC9A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34440" y="51572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orders-api.cavage.headers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234440" y="5641848"/>
            <a:ext cx="4023360" cy="402336"/>
          </a:xfrm>
          <a:prstGeom prst="roundRect">
            <a:avLst>
              <a:gd name="adj" fmla="val 50000"/>
            </a:avLst>
          </a:prstGeom>
          <a:solidFill>
            <a:srgbClr val="005E3B"/>
          </a:solidFill>
          <a:ln w="9525">
            <a:solidFill>
              <a:srgbClr val="8DC9A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34440" y="56418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orders-api.xmldsig.verify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18745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proxy gets its own entry, keyed by its own name.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API means adding a KVM entry — never copy-pasting a policy.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covers all three signature types, on both the signing and verification side.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080760" y="39319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54496" y="4105656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28" name="Image 1" descr="/tmp/claude-0/-home-user-ISAMflow/79b8b998-6fb5-5a61-b212-05c8ac2deff5/scratchpad/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446" y="4206606"/>
            <a:ext cx="218724" cy="21872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739128" y="4005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6739128" y="4242816"/>
            <a:ext cx="45720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Apigee’s KVM name itself can’t be dynamic. So we use one fixed KVM ("signature"), and make the ENTRY KEY dynamic instead — {apiproxy.name}.jwt.verify, etc. — via &lt;Key&gt;&lt;Parameter ref="..."/&gt;&lt;/Key&gt;, which does support a runtime reference.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STORY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always take the shortcut — twice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348" y="18288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" y="1828800"/>
            <a:ext cx="2606040" cy="82296"/>
          </a:xfrm>
          <a:prstGeom prst="rect">
            <a:avLst/>
          </a:prstGeom>
          <a:solidFill>
            <a:srgbClr val="5B6B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367028" y="2308860"/>
            <a:ext cx="868680" cy="868680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14" name="Image 0" descr="/tmp/claude-0/-home-user-ISAMflow/79b8b998-6fb5-5a61-b212-05c8ac2deff5/scratchpad/pptx/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511" y="2517343"/>
            <a:ext cx="451714" cy="45171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81228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99516" y="384048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VerifyJWS could point straight at the Apigee KeyStore, or a JWKS endpoint, purely by a dynamic reference — the way other Apigee policies do.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04388" y="358902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360420" y="18288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60420" y="1828800"/>
            <a:ext cx="260604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7"/>
          <p:cNvSpPr/>
          <p:nvPr/>
        </p:nvSpPr>
        <p:spPr>
          <a:xfrm>
            <a:off x="4229100" y="2308860"/>
            <a:ext cx="868680" cy="8686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1" descr="/tmp/claude-0/-home-user-ISAMflow/79b8b998-6fb5-5a61-b212-05c8ac2deff5/scratchpad/pptx/icons/times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3" y="2517343"/>
            <a:ext cx="451714" cy="45171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54330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testing proved otherwise — twice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3561588" y="384048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&lt;PublicKey&gt;&lt;KeyStore ref="..."/&gt;&lt;/PublicKey&gt; nor &lt;PublicKey&gt;&lt;JWKS uri="..."/&gt;&lt;/PublicKey&gt; resolves a dynamic reference at runtime — both confirmed on our own gateway.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966460" y="358902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222492" y="18288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22492" y="1828800"/>
            <a:ext cx="260604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7" name="Shape 23"/>
          <p:cNvSpPr/>
          <p:nvPr/>
        </p:nvSpPr>
        <p:spPr>
          <a:xfrm>
            <a:off x="7091172" y="230886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2" descr="/tmp/claude-0/-home-user-ISAMflow/79b8b998-6fb5-5a61-b212-05c8ac2deff5/scratchpad/pptx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55" y="2517343"/>
            <a:ext cx="451714" cy="45171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405372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for a workaround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6423660" y="384048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Java plug-in can’t reach the KeyStore either, and calling Apigee’s admin API on every request is a documented anti-pattern.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828532" y="358902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9084564" y="18288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084564" y="1828800"/>
            <a:ext cx="2606040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34" name="Shape 29"/>
          <p:cNvSpPr/>
          <p:nvPr/>
        </p:nvSpPr>
        <p:spPr>
          <a:xfrm>
            <a:off x="9953244" y="2308860"/>
            <a:ext cx="868680" cy="86868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35" name="Image 3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27" y="2517343"/>
            <a:ext cx="451714" cy="45171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267444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9285732" y="384048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PEM in KVM for the simple case; a hand-built JWKS-by-kid resolution pipeline (next slide) when the key rotates via an endpoint instead.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JWS  ·  KEY ROTATION VIA JWKS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 public key from a JWKS endpoint, with caching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" y="192024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7804" y="2039112"/>
            <a:ext cx="347472" cy="347472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07008" y="244602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15" name="Image 0" descr="/tmp/claude-0/-home-user-ISAMflow/79b8b998-6fb5-5a61-b212-05c8ac2deff5/scratchpad/pptx/icons/fingerpr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546" y="2632558"/>
            <a:ext cx="404165" cy="40416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45236" y="33649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"kid"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45236" y="3822192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key id straight out of the incoming JWS header — no crypto yet.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2592324" y="336042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848356" y="192024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67228" y="2039112"/>
            <a:ext cx="347472" cy="347472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967228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456432" y="244602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3" name="Image 1" descr="/tmp/claude-0/-home-user-ISAMflow/79b8b998-6fb5-5a61-b212-05c8ac2deff5/scratchpad/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2632558"/>
            <a:ext cx="404165" cy="40416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994660" y="33649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cache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2994660" y="3822192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LookupCache keyed on jwksUri + kid (not kid alone — kid isn’t globally unique across issuers).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4841748" y="336042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5097780" y="192024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216652" y="2039112"/>
            <a:ext cx="347472" cy="347472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216652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705856" y="244602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31" name="Image 2" descr="/tmp/claude-0/-home-user-ISAMflow/79b8b998-6fb5-5a61-b212-05c8ac2deff5/scratchpad/pptx/icons/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394" y="2632558"/>
            <a:ext cx="404165" cy="40416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44084" y="33649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JWKS (miss only)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5244084" y="3822192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ServiceCallout to the KVM-configured jwksUri, only when nothing was cached.</a:t>
            </a:r>
            <a:endParaRPr lang="en-US" sz="980" dirty="0"/>
          </a:p>
        </p:txBody>
      </p:sp>
      <p:sp>
        <p:nvSpPr>
          <p:cNvPr id="34" name="Shape 29"/>
          <p:cNvSpPr/>
          <p:nvPr/>
        </p:nvSpPr>
        <p:spPr>
          <a:xfrm>
            <a:off x="7091172" y="336042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7347204" y="192024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466076" y="2039112"/>
            <a:ext cx="347472" cy="347472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7466076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7955280" y="244602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39" name="Image 3" descr="/tmp/claude-0/-home-user-ISAMflow/79b8b998-6fb5-5a61-b212-05c8ac2deff5/scratchpad/pptx/icons/hashta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818" y="2632558"/>
            <a:ext cx="404165" cy="40416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493508" y="33649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&amp; repackage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7493508" y="3822192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by kid; hand-verified DER encoding turns the JWK’s RSA n/e into PEM.</a:t>
            </a:r>
            <a:endParaRPr lang="en-US" sz="980" dirty="0"/>
          </a:p>
        </p:txBody>
      </p:sp>
      <p:sp>
        <p:nvSpPr>
          <p:cNvPr id="42" name="Shape 36"/>
          <p:cNvSpPr/>
          <p:nvPr/>
        </p:nvSpPr>
        <p:spPr>
          <a:xfrm>
            <a:off x="9340596" y="3360420"/>
            <a:ext cx="256032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9596628" y="192024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9715500" y="2039112"/>
            <a:ext cx="347472" cy="347472"/>
          </a:xfrm>
          <a:prstGeom prst="ellipse">
            <a:avLst/>
          </a:prstGeom>
          <a:solidFill>
            <a:srgbClr val="00965E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7155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Shape 40"/>
          <p:cNvSpPr/>
          <p:nvPr/>
        </p:nvSpPr>
        <p:spPr>
          <a:xfrm>
            <a:off x="10204704" y="2446020"/>
            <a:ext cx="777240" cy="77724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47" name="Image 4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1242" y="2632558"/>
            <a:ext cx="404165" cy="404165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9742932" y="33649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verify</a:t>
            </a:r>
            <a:endParaRPr lang="en-US" sz="1150" dirty="0"/>
          </a:p>
        </p:txBody>
      </p:sp>
      <p:sp>
        <p:nvSpPr>
          <p:cNvPr id="49" name="Text 42"/>
          <p:cNvSpPr txBox="1"/>
          <p:nvPr/>
        </p:nvSpPr>
        <p:spPr>
          <a:xfrm>
            <a:off x="9742932" y="3822192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PopulateCache stores the resolved PEM (TTL 1h, tune to rotation cadence); VerifyJWS runs as normal.</a:t>
            </a:r>
            <a:endParaRPr lang="en-US" sz="980" dirty="0"/>
          </a:p>
        </p:txBody>
      </p:sp>
      <p:sp>
        <p:nvSpPr>
          <p:cNvPr id="50" name="Shape 43"/>
          <p:cNvSpPr/>
          <p:nvPr/>
        </p:nvSpPr>
        <p:spPr>
          <a:xfrm>
            <a:off x="598932" y="5056632"/>
            <a:ext cx="10991088" cy="868680"/>
          </a:xfrm>
          <a:prstGeom prst="roundRect">
            <a:avLst>
              <a:gd name="adj" fmla="val 8421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772668" y="5230368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52" name="Image 5" descr="/tmp/claude-0/-home-user-ISAMflow/79b8b998-6fb5-5a61-b212-05c8ac2deff5/scratchpad/pptx/icons/ke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618" y="5331318"/>
            <a:ext cx="218724" cy="218724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1257300" y="5129784"/>
            <a:ext cx="10168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54" name="Text 46"/>
          <p:cNvSpPr txBox="1"/>
          <p:nvPr/>
        </p:nvSpPr>
        <p:spPr>
          <a:xfrm>
            <a:off x="1257300" y="5367528"/>
            <a:ext cx="10168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key sources land in the SAME signature.verify.jwt.publicKey.pem variable — VerifyJWS never knows or cares whether a static PEM or the JWKS pipeline produced it. Only RSA keys are supported today.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RELATED SHARED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identity claims from a SAML header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5236" y="1874520"/>
            <a:ext cx="3291840" cy="3063240"/>
          </a:xfrm>
          <a:prstGeom prst="roundRect">
            <a:avLst>
              <a:gd name="adj" fmla="val 2388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11096" y="2308860"/>
            <a:ext cx="960120" cy="96012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13" name="Image 0" descr="/tmp/claude-0/-home-user-ISAMflow/79b8b998-6fb5-5a61-b212-05c8ac2deff5/scratchpad/pptx/icons/id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525" y="2539289"/>
            <a:ext cx="499262" cy="49926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73836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SAML header arrives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019556" y="39593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assertion travels as a header — raw XML or base64-encoded.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37076" y="3406140"/>
            <a:ext cx="411480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48556" y="1874520"/>
            <a:ext cx="3291840" cy="3063240"/>
          </a:xfrm>
          <a:prstGeom prst="roundRect">
            <a:avLst>
              <a:gd name="adj" fmla="val 2388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14416" y="2308860"/>
            <a:ext cx="960120" cy="96012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19" name="Image 1" descr="/tmp/claude-0/-home-user-ISAMflow/79b8b998-6fb5-5a61-b212-05c8ac2deff5/scratchpad/pptx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5" y="2539289"/>
            <a:ext cx="499262" cy="49926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77156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SF-SAML-Extractor decodes it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4722876" y="39593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per-proxy "profile" flag selects which native XPath extraction runs.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740396" y="3406140"/>
            <a:ext cx="411480" cy="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151876" y="1874520"/>
            <a:ext cx="3291840" cy="3063240"/>
          </a:xfrm>
          <a:prstGeom prst="roundRect">
            <a:avLst>
              <a:gd name="adj" fmla="val 2388"/>
            </a:avLst>
          </a:prstGeom>
          <a:solidFill>
            <a:srgbClr val="F1F8F4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317736" y="2308860"/>
            <a:ext cx="960120" cy="960120"/>
          </a:xfrm>
          <a:prstGeom prst="ellipse">
            <a:avLst/>
          </a:prstGeom>
          <a:solidFill>
            <a:srgbClr val="007348"/>
          </a:solidFill>
          <a:ln/>
        </p:spPr>
      </p:sp>
      <p:pic>
        <p:nvPicPr>
          <p:cNvPr id="25" name="Image 2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165" y="2539289"/>
            <a:ext cx="499262" cy="49926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80476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variables, ready to use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8426196" y="39593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like personId land as ordinary flow variables for the rest of the proxy.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45236" y="52578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18972" y="5431536"/>
            <a:ext cx="420624" cy="420624"/>
          </a:xfrm>
          <a:prstGeom prst="ellipse">
            <a:avLst/>
          </a:prstGeom>
          <a:solidFill>
            <a:srgbClr val="5B6B63"/>
          </a:solidFill>
          <a:ln/>
        </p:spPr>
      </p:sp>
      <p:pic>
        <p:nvPicPr>
          <p:cNvPr id="30" name="Image 3" descr="/tmp/claude-0/-home-user-ISAMflow/79b8b998-6fb5-5a61-b212-05c8ac2deff5/scratchpad/pptx/icons/co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22" y="5532486"/>
            <a:ext cx="218724" cy="21872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403604" y="533095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 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403604" y="5568696"/>
            <a:ext cx="9875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real-world messiness: base64 or raw XML detection, stray unescaped "&amp;" characters, and oversized headers (needs a WAF header-size exception — not a code fix).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BEFORE GO-LIVE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signing service for development &amp; testing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78308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007348"/>
          </a:solidFill>
          <a:ln w="12700">
            <a:solidFill>
              <a:srgbClr val="D6E9D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1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2377440"/>
            <a:ext cx="1371600" cy="137160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13" name="Image 0" descr="/tmp/claude-0/-home-user-ISAMflow/79b8b998-6fb5-5a61-b212-05c8ac2deff5/scratchpad/pptx/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2706624"/>
            <a:ext cx="713232" cy="7132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51560" y="3931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Apigee’s native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AssignMessage policy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zero custom code.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187452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the three real signing endpoints (HMAC compute, HMAC verify, signature compute) with realistic dummy responses.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header, X-Mock-Fail, flips any call over to its failure response on demand.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teams build and test both the happy path and error handling before the real signing API is wired in.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7150" cy="82296"/>
          </a:xfrm>
          <a:prstGeom prst="rect">
            <a:avLst/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>
            <a:off x="7557150" y="0"/>
            <a:ext cx="2925348" cy="82296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2499" y="0"/>
            <a:ext cx="1706453" cy="82296"/>
          </a:xfrm>
          <a:prstGeom prst="rect">
            <a:avLst/>
          </a:prstGeom>
          <a:solidFill>
            <a:srgbClr val="8DC9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working today, and what’s next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0"/>
          </a:xfrm>
          <a:prstGeom prst="line">
            <a:avLst/>
          </a:prstGeom>
          <a:noFill/>
          <a:ln w="9525">
            <a:solidFill>
              <a:srgbClr val="D6E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601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 ·  BNP Paribas Fortis  ·  Apigee Signature Gateway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03152" y="656539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96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03152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E4F4EB"/>
          </a:solidFill>
          <a:ln w="12700">
            <a:solidFill>
              <a:srgbClr val="BFE0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" y="1988820"/>
            <a:ext cx="594360" cy="594360"/>
          </a:xfrm>
          <a:prstGeom prst="ellipse">
            <a:avLst/>
          </a:prstGeom>
          <a:solidFill>
            <a:srgbClr val="00965E"/>
          </a:solidFill>
          <a:ln/>
        </p:spPr>
      </p:sp>
      <p:pic>
        <p:nvPicPr>
          <p:cNvPr id="13" name="Image 0" descr="/tmp/claude-0/-home-user-ISAMflow/79b8b998-6fb5-5a61-b212-05c8ac2deff5/scratchpad/pptx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626" y="2131466"/>
            <a:ext cx="309067" cy="30906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737360" y="2039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today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834640"/>
            <a:ext cx="4160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Signing-string / digest generation for JWT, Cavage, and XML-DSig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native JWT/JWS validation (VerifyJWS), incl. JWKS key resolution + caching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XML-DSig validation, incl. the cryptographic SignatureValue check (JSR-105 JavaCallout)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identity-claim extraction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signing service for dev &amp; test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CF1E2"/>
          </a:solidFill>
          <a:ln w="12700">
            <a:solidFill>
              <a:srgbClr val="F2DB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23660" y="19888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1" descr="/tmp/claude-0/-home-user-ISAMflow/79b8b998-6fb5-5a61-b212-05c8ac2deff5/scratchpad/pptx/icons/hourglassHal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306" y="2131466"/>
            <a:ext cx="309067" cy="30906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2039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7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629400" y="2834640"/>
            <a:ext cx="4160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SF-Signature-Router to the real external signing service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cryptographic signature check for Cavage validation (a small, well-scoped Java component)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per-proxy KVM entry for the Cavage keyId → key mapping, same pattern as JWT/XML-DSig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73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400000">
            <a:off x="-2834640" y="3383280"/>
            <a:ext cx="6400800" cy="6400800"/>
          </a:xfrm>
          <a:prstGeom prst="roundRect">
            <a:avLst>
              <a:gd name="adj" fmla="val 14000"/>
            </a:avLst>
          </a:prstGeom>
          <a:solidFill>
            <a:srgbClr val="007348"/>
          </a:solidFill>
          <a:ln/>
        </p:spPr>
      </p:sp>
      <p:sp>
        <p:nvSpPr>
          <p:cNvPr id="3" name="Shape 1"/>
          <p:cNvSpPr/>
          <p:nvPr/>
        </p:nvSpPr>
        <p:spPr>
          <a:xfrm rot="2400000">
            <a:off x="-1938528" y="4279392"/>
            <a:ext cx="4608576" cy="4608576"/>
          </a:xfrm>
          <a:prstGeom prst="roundRect">
            <a:avLst>
              <a:gd name="adj" fmla="val 14000"/>
            </a:avLst>
          </a:prstGeom>
          <a:solidFill>
            <a:srgbClr val="00965E"/>
          </a:solidFill>
          <a:ln/>
        </p:spPr>
      </p:sp>
      <p:sp>
        <p:nvSpPr>
          <p:cNvPr id="4" name="Shape 2"/>
          <p:cNvSpPr/>
          <p:nvPr/>
        </p:nvSpPr>
        <p:spPr>
          <a:xfrm rot="2400000">
            <a:off x="-1042416" y="5175504"/>
            <a:ext cx="2816352" cy="2816352"/>
          </a:xfrm>
          <a:prstGeom prst="roundRect">
            <a:avLst>
              <a:gd name="adj" fmla="val 14000"/>
            </a:avLst>
          </a:prstGeom>
          <a:solidFill>
            <a:srgbClr val="8DC9A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6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188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once. Trusted everywhere it’s used.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53796" y="27889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53796" y="4206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standards,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entry point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02836" y="27889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402836" y="4206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policies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copy-pasted across APIs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51876" y="27889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</a:t>
            </a:r>
            <a:endParaRPr lang="en-US" sz="3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51876" y="4206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unverifiable signature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passes through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5989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DC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Fortis · ISAMflow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2026-09-17T10:55:43Z</dcterms:created>
  <dcterms:modified xsi:type="dcterms:W3CDTF">2026-09-17T10:55:43Z</dcterms:modified>
</cp:coreProperties>
</file>