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ISAMflow/9c2980d9-99c2-5261-8e3f-bdd5e4406ca3/scratchpad/isam-deck/assets/gateway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955280" y="146304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PARIBAS FORTIS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640080" y="23317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1" descr="/tmp/claude-0/-home-user-ISAMflow/9c2980d9-99c2-5261-8e3f-bdd5e4406ca3/scratchpad/isam-deck/assets/gateway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8" y="2518258"/>
            <a:ext cx="404165" cy="40416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1792" y="32461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ISAM Token Exchange</a:t>
            </a:r>
            <a:endParaRPr lang="en-US" sz="4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 Apigee</a:t>
            </a:r>
            <a:endParaRPr lang="en-US" sz="42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4983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B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WS-Trust &amp; JWT Federation Gateway — Architecture Overview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61264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mixed audience of developers and business / non-technical stakeholders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5" name="Image 0" descr="/tmp/claude-0/-home-user-ISAMflow/9c2980d9-99c2-5261-8e3f-bdd5e4406ca3/scratchpad/isam-deck/asset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007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0432" y="1572768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gateway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70432" y="1856232"/>
            <a:ext cx="4727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this architecture solves, and why ISAM calls go through Apigee.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72200" y="1600200"/>
            <a:ext cx="457200" cy="457200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9" name="Image 1" descr="/tmp/claude-0/-home-user-ISAMflow/9c2980d9-99c2-5261-8e3f-bdd5e4406ca3/scratchpad/isam-deck/asset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70078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793992" y="1572768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at a glance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793992" y="1856232"/>
            <a:ext cx="4727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a request takes from client app to ISAM and back.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13" name="Image 2" descr="/tmp/claude-0/-home-user-ISAMflow/9c2980d9-99c2-5261-8e3f-bdd5e4406ca3/scratchpad/isam-deck/assets/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11810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70432" y="2990088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request types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70432" y="3273552"/>
            <a:ext cx="4727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User, TP, Technical, JWT-SAML, JWT-Token — what differs, what doesn’t.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72200" y="3017520"/>
            <a:ext cx="457200" cy="457200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17" name="Image 3" descr="/tmp/claude-0/-home-user-ISAMflow/9c2980d9-99c2-5261-8e3f-bdd5e4406ca3/scratchpad/isam-deck/assets/exch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311810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793992" y="2990088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building blocks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6793992" y="3273552"/>
            <a:ext cx="4727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reusable pieces every type calls — one place to fix, not six.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21" name="Image 4" descr="/tmp/claude-0/-home-user-ISAMflow/9c2980d9-99c2-5261-8e3f-bdd5e4406ca3/scratchpad/isam-deck/assets/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4535424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70432" y="4407408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&amp; security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1170432" y="4690872"/>
            <a:ext cx="4727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 between ISAM hosts, mTLS, signature validation.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172200" y="4434840"/>
            <a:ext cx="457200" cy="457200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25" name="Image 5" descr="/tmp/claude-0/-home-user-ISAMflow/9c2980d9-99c2-5261-8e3f-bdd5e4406ca3/scratchpad/isam-deck/assets/flas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4535424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793992" y="4407408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tooling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6793992" y="4690872"/>
            <a:ext cx="4727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develop and test locally without a live ISAM.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– Apigee / ISAM Token Exchange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every ISAM call goes through Apigee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46304" cy="146304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184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secure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2938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mTLS, certificate handling and signature checks are implemented once — not re-built inside every application.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46304" cy="146304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8529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make resilient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6382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between the two ISAM hosts is automatic and identical for every caller.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46304" cy="146304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0873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change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39826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 endpoint or config changes happen in one shared flow, not in dozens of applications.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1645920"/>
            <a:ext cx="4937760" cy="4480560"/>
          </a:xfrm>
          <a:prstGeom prst="roundRect">
            <a:avLst>
              <a:gd name="adj" fmla="val 2041"/>
            </a:avLst>
          </a:prstGeom>
          <a:solidFill>
            <a:srgbClr val="EEF6F1"/>
          </a:solidFill>
          <a:ln w="12700">
            <a:solidFill>
              <a:srgbClr val="DCEB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95160" y="2194560"/>
            <a:ext cx="137160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CEBE2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068312" y="219456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66760" y="2395728"/>
            <a:ext cx="1645920" cy="1353312"/>
          </a:xfrm>
          <a:prstGeom prst="line">
            <a:avLst/>
          </a:prstGeom>
          <a:noFill/>
          <a:ln w="15875">
            <a:solidFill>
              <a:srgbClr val="5C726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95160" y="2761488"/>
            <a:ext cx="137160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CEBE2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068312" y="2761488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366760" y="2962656"/>
            <a:ext cx="1645920" cy="786384"/>
          </a:xfrm>
          <a:prstGeom prst="line">
            <a:avLst/>
          </a:prstGeom>
          <a:noFill/>
          <a:ln w="15875">
            <a:solidFill>
              <a:srgbClr val="5C726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995160" y="3328416"/>
            <a:ext cx="137160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CEBE2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068312" y="3328416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66760" y="3529584"/>
            <a:ext cx="1645920" cy="219456"/>
          </a:xfrm>
          <a:prstGeom prst="line">
            <a:avLst/>
          </a:prstGeom>
          <a:noFill/>
          <a:ln w="15875">
            <a:solidFill>
              <a:srgbClr val="5C726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12680" y="3520440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A3D2C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085832" y="352044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4251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re-implements mTLS, retries, signature checks — differently.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4709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95160" y="4983480"/>
            <a:ext cx="137160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CEBE2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068312" y="498348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app types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366760" y="5193792"/>
            <a:ext cx="1234440" cy="9144"/>
          </a:xfrm>
          <a:prstGeom prst="line">
            <a:avLst/>
          </a:prstGeom>
          <a:noFill/>
          <a:ln w="22225">
            <a:solidFill>
              <a:srgbClr val="0A3D2C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601200" y="4983480"/>
            <a:ext cx="914400" cy="411480"/>
          </a:xfrm>
          <a:prstGeom prst="roundRect">
            <a:avLst>
              <a:gd name="adj" fmla="val 20000"/>
            </a:avLst>
          </a:prstGeom>
          <a:solidFill>
            <a:srgbClr val="0A3D2C"/>
          </a:solidFill>
          <a:ln w="19050">
            <a:solidFill>
              <a:srgbClr val="0A3D2C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674352" y="4983480"/>
            <a:ext cx="768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10515600" y="5193792"/>
            <a:ext cx="457200" cy="9144"/>
          </a:xfrm>
          <a:prstGeom prst="line">
            <a:avLst/>
          </a:prstGeom>
          <a:noFill/>
          <a:ln w="22225">
            <a:solidFill>
              <a:srgbClr val="0A3D2C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972800" y="4983480"/>
            <a:ext cx="82296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A3D2C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11045952" y="4983480"/>
            <a:ext cx="676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– Apigee / ISAM Token Exchange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path a request takes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286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9050">
            <a:solidFill>
              <a:srgbClr val="0A3D2C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4752" y="2112264"/>
            <a:ext cx="493776" cy="493776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6" name="Image 0" descr="/tmp/claude-0/-home-user-ISAMflow/9c2980d9-99c2-5261-8e3f-bdd5e4406ca3/scratchpad/isam-deck/asset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3383" y="2220895"/>
            <a:ext cx="276515" cy="27651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267919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App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971800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its request over mutual TLS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520440" y="1965960"/>
            <a:ext cx="2286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9050">
            <a:solidFill>
              <a:srgbClr val="0A3D2C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16552" y="2112264"/>
            <a:ext cx="493776" cy="493776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11" name="Image 1" descr="/tmp/claude-0/-home-user-ISAMflow/9c2980d9-99c2-5261-8e3f-bdd5e4406ca3/scratchpad/isam-deck/assets/gatew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183" y="2220895"/>
            <a:ext cx="276515" cy="27651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3592" y="267919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 Gateway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593592" y="2971800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· routing · policy enforcement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492240" y="1965960"/>
            <a:ext cx="2286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9050">
            <a:solidFill>
              <a:srgbClr val="0A3D2C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88352" y="2112264"/>
            <a:ext cx="493776" cy="493776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16" name="Image 2" descr="/tmp/claude-0/-home-user-ISAMflow/9c2980d9-99c2-5261-8e3f-bdd5e4406ca3/scratchpad/isam-deck/asset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983" y="2220895"/>
            <a:ext cx="276515" cy="27651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65392" y="267919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Flow (per type)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565392" y="2971800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WS-Trust / JSON request to ISAM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464040" y="1965960"/>
            <a:ext cx="2176272" cy="722376"/>
          </a:xfrm>
          <a:prstGeom prst="roundRect">
            <a:avLst>
              <a:gd name="adj" fmla="val 11392"/>
            </a:avLst>
          </a:prstGeom>
          <a:solidFill>
            <a:srgbClr val="0A3D2C"/>
          </a:solidFill>
          <a:ln w="19050">
            <a:solidFill>
              <a:srgbClr val="0A3D2C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9537192" y="1965960"/>
            <a:ext cx="20299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 Primary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464040" y="2798064"/>
            <a:ext cx="2176272" cy="722376"/>
          </a:xfrm>
          <a:prstGeom prst="roundRect">
            <a:avLst>
              <a:gd name="adj" fmla="val 11392"/>
            </a:avLst>
          </a:prstGeom>
          <a:solidFill>
            <a:srgbClr val="124F3B"/>
          </a:solidFill>
          <a:ln w="19050">
            <a:solidFill>
              <a:srgbClr val="124F3B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9537192" y="2798064"/>
            <a:ext cx="20299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 Secondary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9464040" y="167335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 →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2834640" y="2743200"/>
            <a:ext cx="685800" cy="9144"/>
          </a:xfrm>
          <a:prstGeom prst="line">
            <a:avLst/>
          </a:prstGeom>
          <a:noFill/>
          <a:ln w="25400">
            <a:solidFill>
              <a:srgbClr val="0A3D2C"/>
            </a:solidFill>
            <a:prstDash val="solid"/>
            <a:headEnd type="none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5806440" y="2743200"/>
            <a:ext cx="685800" cy="9144"/>
          </a:xfrm>
          <a:prstGeom prst="line">
            <a:avLst/>
          </a:prstGeom>
          <a:noFill/>
          <a:ln w="25400">
            <a:solidFill>
              <a:srgbClr val="0A3D2C"/>
            </a:solidFill>
            <a:prstDash val="solid"/>
            <a:headEnd type="none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8778240" y="2743200"/>
            <a:ext cx="685800" cy="9144"/>
          </a:xfrm>
          <a:prstGeom prst="line">
            <a:avLst/>
          </a:prstGeom>
          <a:noFill/>
          <a:ln w="25400">
            <a:solidFill>
              <a:srgbClr val="0A3D2C"/>
            </a:solidFill>
            <a:prstDash val="solid"/>
            <a:headEnd type="none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10552176" y="3520440"/>
            <a:ext cx="9144" cy="685800"/>
          </a:xfrm>
          <a:prstGeom prst="line">
            <a:avLst/>
          </a:prstGeom>
          <a:noFill/>
          <a:ln w="25400">
            <a:solidFill>
              <a:srgbClr val="00A651"/>
            </a:solidFill>
            <a:prstDash val="solid"/>
            <a:headEnd type="none"/>
            <a:tailEnd type="none"/>
          </a:ln>
        </p:spPr>
      </p:sp>
      <p:sp>
        <p:nvSpPr>
          <p:cNvPr id="28" name="Shape 23"/>
          <p:cNvSpPr/>
          <p:nvPr/>
        </p:nvSpPr>
        <p:spPr>
          <a:xfrm flipH="1">
            <a:off x="1691640" y="4206240"/>
            <a:ext cx="8860536" cy="9144"/>
          </a:xfrm>
          <a:prstGeom prst="line">
            <a:avLst/>
          </a:prstGeom>
          <a:noFill/>
          <a:ln w="25400">
            <a:solidFill>
              <a:srgbClr val="00A651"/>
            </a:solidFill>
            <a:prstDash val="solid"/>
            <a:headEnd type="none"/>
            <a:tailEnd type="triangle"/>
          </a:ln>
        </p:spPr>
      </p:sp>
      <p:sp>
        <p:nvSpPr>
          <p:cNvPr id="29" name="Shape 24"/>
          <p:cNvSpPr/>
          <p:nvPr/>
        </p:nvSpPr>
        <p:spPr>
          <a:xfrm flipV="1">
            <a:off x="1691640" y="3520440"/>
            <a:ext cx="9144" cy="685800"/>
          </a:xfrm>
          <a:prstGeom prst="line">
            <a:avLst/>
          </a:prstGeom>
          <a:noFill/>
          <a:ln w="25400">
            <a:solidFill>
              <a:srgbClr val="00A651"/>
            </a:solidFill>
            <a:prstDash val="solid"/>
            <a:headEnd type="none"/>
            <a:tailEnd type="triangle"/>
          </a:ln>
        </p:spPr>
      </p:sp>
      <p:sp>
        <p:nvSpPr>
          <p:cNvPr id="30" name="Text 25"/>
          <p:cNvSpPr txBox="1"/>
          <p:nvPr/>
        </p:nvSpPr>
        <p:spPr>
          <a:xfrm>
            <a:off x="1691640" y="4297680"/>
            <a:ext cx="8860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/ JWT response returns to the caller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– Apigee / ISAM Token Exchange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flow, six flavors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type builds a different message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(WS-Trust XML or JSON)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the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itself to ISAM is identical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all six: same failover, same signature check, same compression, same header logic.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28016" cy="128016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3154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shared logic is built once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429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reusable “common” shared flows, not copy-pasted six times.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128016" cy="128016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type calls those blocks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297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 simple FlowCallout — like calling a function.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029200"/>
            <a:ext cx="128016" cy="128016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4892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a bug means fixing it once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5166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type picks the fix up automatically on its next call.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20840" y="1691640"/>
            <a:ext cx="1481328" cy="384048"/>
          </a:xfrm>
          <a:prstGeom prst="roundRect">
            <a:avLst>
              <a:gd name="adj" fmla="val 21429"/>
            </a:avLst>
          </a:prstGeom>
          <a:solidFill>
            <a:srgbClr val="EEF6F1"/>
          </a:solidFill>
          <a:ln w="19050">
            <a:solidFill>
              <a:srgbClr val="DCEB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93992" y="16916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30184" y="1691640"/>
            <a:ext cx="1481328" cy="384048"/>
          </a:xfrm>
          <a:prstGeom prst="roundRect">
            <a:avLst>
              <a:gd name="adj" fmla="val 21429"/>
            </a:avLst>
          </a:prstGeom>
          <a:solidFill>
            <a:srgbClr val="EEF6F1"/>
          </a:solidFill>
          <a:ln w="19050">
            <a:solidFill>
              <a:srgbClr val="DCEB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03336" y="16916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939528" y="1691640"/>
            <a:ext cx="1481328" cy="384048"/>
          </a:xfrm>
          <a:prstGeom prst="roundRect">
            <a:avLst>
              <a:gd name="adj" fmla="val 21429"/>
            </a:avLst>
          </a:prstGeom>
          <a:solidFill>
            <a:srgbClr val="EEF6F1"/>
          </a:solidFill>
          <a:ln w="19050">
            <a:solidFill>
              <a:srgbClr val="DCEB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12680" y="16916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720840" y="2221992"/>
            <a:ext cx="1481328" cy="384048"/>
          </a:xfrm>
          <a:prstGeom prst="roundRect">
            <a:avLst>
              <a:gd name="adj" fmla="val 21429"/>
            </a:avLst>
          </a:prstGeom>
          <a:solidFill>
            <a:srgbClr val="EEF6F1"/>
          </a:solidFill>
          <a:ln w="19050">
            <a:solidFill>
              <a:srgbClr val="DCEB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93992" y="2221992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330184" y="2221992"/>
            <a:ext cx="1481328" cy="384048"/>
          </a:xfrm>
          <a:prstGeom prst="roundRect">
            <a:avLst>
              <a:gd name="adj" fmla="val 21429"/>
            </a:avLst>
          </a:prstGeom>
          <a:solidFill>
            <a:srgbClr val="EEF6F1"/>
          </a:solidFill>
          <a:ln w="19050">
            <a:solidFill>
              <a:srgbClr val="DCEB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03336" y="2221992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JWT-SAML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939528" y="2221992"/>
            <a:ext cx="1481328" cy="384048"/>
          </a:xfrm>
          <a:prstGeom prst="roundRect">
            <a:avLst>
              <a:gd name="adj" fmla="val 21429"/>
            </a:avLst>
          </a:prstGeom>
          <a:solidFill>
            <a:srgbClr val="EEF6F1"/>
          </a:solidFill>
          <a:ln w="19050">
            <a:solidFill>
              <a:srgbClr val="DCEB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12680" y="2221992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JWT-Token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070848" y="2606040"/>
            <a:ext cx="9144" cy="365760"/>
          </a:xfrm>
          <a:prstGeom prst="line">
            <a:avLst/>
          </a:prstGeom>
          <a:noFill/>
          <a:ln w="25400">
            <a:solidFill>
              <a:srgbClr val="0A3D2C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720840" y="2990088"/>
            <a:ext cx="4700016" cy="1371600"/>
          </a:xfrm>
          <a:prstGeom prst="roundRect">
            <a:avLst>
              <a:gd name="adj" fmla="val 6000"/>
            </a:avLst>
          </a:prstGeom>
          <a:solidFill>
            <a:srgbClr val="0A3D2C"/>
          </a:solidFill>
          <a:ln w="19050">
            <a:solidFill>
              <a:srgbClr val="0A3D2C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823960" y="3136392"/>
            <a:ext cx="493776" cy="493776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29" name="Image 0" descr="/tmp/claude-0/-home-user-ISAMflow/9c2980d9-99c2-5261-8e3f-bdd5e4406ca3/scratchpad/isam-deck/asset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2591" y="3245023"/>
            <a:ext cx="276515" cy="27651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6793992" y="3703320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building blocks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6793992" y="3995928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 call · failover · signature · compression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9070848" y="4361688"/>
            <a:ext cx="9144" cy="365760"/>
          </a:xfrm>
          <a:prstGeom prst="line">
            <a:avLst/>
          </a:prstGeom>
          <a:noFill/>
          <a:ln w="25400">
            <a:solidFill>
              <a:srgbClr val="00A651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330184" y="4745736"/>
            <a:ext cx="1481328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0A3D2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403336" y="4745736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– Apigee / ISAM Token Exchange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building blocks every type shares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57400" cy="2331720"/>
          </a:xfrm>
          <a:prstGeom prst="roundRect">
            <a:avLst>
              <a:gd name="adj" fmla="val 3556"/>
            </a:avLst>
          </a:prstGeom>
          <a:solidFill>
            <a:srgbClr val="EEF6F1"/>
          </a:solidFill>
          <a:ln w="12700">
            <a:solidFill>
              <a:srgbClr val="DCEBE2"/>
            </a:solidFill>
            <a:prstDash val="solid"/>
          </a:ln>
          <a:effectLst>
            <a:outerShdw sx="100000" sy="100000" kx="0" ky="0" algn="bl" rotWithShape="0" blurRad="76200" dist="25400" dir="5400000">
              <a:srgbClr val="1B3A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6" name="Image 0" descr="/tmp/claude-0/-home-user-ISAMflow/9c2980d9-99c2-5261-8e3f-bdd5e4406ca3/scratchpad/isam-deck/assets/id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8483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53312" y="19842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Client Cert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551176"/>
            <a:ext cx="165506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the caller’s certificate from the mTLS handshake into one clean variable.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1911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807208" y="1783080"/>
            <a:ext cx="2057400" cy="2331720"/>
          </a:xfrm>
          <a:prstGeom prst="roundRect">
            <a:avLst>
              <a:gd name="adj" fmla="val 3556"/>
            </a:avLst>
          </a:prstGeom>
          <a:solidFill>
            <a:srgbClr val="EEF6F1"/>
          </a:solidFill>
          <a:ln w="12700">
            <a:solidFill>
              <a:srgbClr val="DCEBE2"/>
            </a:solidFill>
            <a:prstDash val="solid"/>
          </a:ln>
          <a:effectLst>
            <a:outerShdw sx="100000" sy="100000" kx="0" ky="0" algn="bl" rotWithShape="0" blurRad="76200" dist="25400" dir="5400000">
              <a:srgbClr val="1B3A2E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08376" y="1984248"/>
            <a:ext cx="457200" cy="457200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12" name="Image 1" descr="/tmp/claude-0/-home-user-ISAMflow/9c2980d9-99c2-5261-8e3f-bdd5e4406ca3/scratchpad/isam-deck/assets/exch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208483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11880" y="19842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ISAM + Failover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008376" y="2551176"/>
            <a:ext cx="165506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primary ISAM host; retries the secondary automatically on timeout or error.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407408" y="1911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65776" y="1783080"/>
            <a:ext cx="2057400" cy="2331720"/>
          </a:xfrm>
          <a:prstGeom prst="roundRect">
            <a:avLst>
              <a:gd name="adj" fmla="val 3556"/>
            </a:avLst>
          </a:prstGeom>
          <a:solidFill>
            <a:srgbClr val="EEF6F1"/>
          </a:solidFill>
          <a:ln w="12700">
            <a:solidFill>
              <a:srgbClr val="DCEBE2"/>
            </a:solidFill>
            <a:prstDash val="solid"/>
          </a:ln>
          <a:effectLst>
            <a:outerShdw sx="100000" sy="100000" kx="0" ky="0" algn="bl" rotWithShape="0" blurRad="76200" dist="25400" dir="5400000">
              <a:srgbClr val="1B3A2E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266944" y="1984248"/>
            <a:ext cx="457200" cy="457200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18" name="Image 2" descr="/tmp/claude-0/-home-user-ISAMflow/9c2980d9-99c2-5261-8e3f-bdd5e4406ca3/scratchpad/isam-deck/asset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208483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870448" y="19842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Signature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5266944" y="2551176"/>
            <a:ext cx="165506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SAML assertion’s signature against the certificate embedded in it.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6665976" y="1911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324344" y="1783080"/>
            <a:ext cx="2057400" cy="2331720"/>
          </a:xfrm>
          <a:prstGeom prst="roundRect">
            <a:avLst>
              <a:gd name="adj" fmla="val 3556"/>
            </a:avLst>
          </a:prstGeom>
          <a:solidFill>
            <a:srgbClr val="EEF6F1"/>
          </a:solidFill>
          <a:ln w="12700">
            <a:solidFill>
              <a:srgbClr val="DCEBE2"/>
            </a:solidFill>
            <a:prstDash val="solid"/>
          </a:ln>
          <a:effectLst>
            <a:outerShdw sx="100000" sy="100000" kx="0" ky="0" algn="bl" rotWithShape="0" blurRad="76200" dist="25400" dir="5400000">
              <a:srgbClr val="1B3A2E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25512" y="1984248"/>
            <a:ext cx="457200" cy="457200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24" name="Image 3" descr="/tmp/claude-0/-home-user-ISAMflow/9c2980d9-99c2-5261-8e3f-bdd5e4406ca3/scratchpad/isam-deck/assets/z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096" y="2084832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129016" y="19842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Assertion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7525512" y="2551176"/>
            <a:ext cx="165506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zips and base64-encodes the assertion for the response header.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8924544" y="1911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9582912" y="1783080"/>
            <a:ext cx="2057400" cy="2331720"/>
          </a:xfrm>
          <a:prstGeom prst="roundRect">
            <a:avLst>
              <a:gd name="adj" fmla="val 3556"/>
            </a:avLst>
          </a:prstGeom>
          <a:solidFill>
            <a:srgbClr val="EEF6F1"/>
          </a:solidFill>
          <a:ln w="12700">
            <a:solidFill>
              <a:srgbClr val="DCEBE2"/>
            </a:solidFill>
            <a:prstDash val="solid"/>
          </a:ln>
          <a:effectLst>
            <a:outerShdw sx="100000" sy="100000" kx="0" ky="0" algn="bl" rotWithShape="0" blurRad="76200" dist="25400" dir="5400000">
              <a:srgbClr val="1B3A2E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784080" y="1984248"/>
            <a:ext cx="457200" cy="457200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30" name="Image 4" descr="/tmp/claude-0/-home-user-ISAMflow/9c2980d9-99c2-5261-8e3f-bdd5e4406ca3/scratchpad/isam-deck/asset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4664" y="2084832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0387584" y="19842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Response Headers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9784080" y="2551176"/>
            <a:ext cx="165506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final token or assertion into the headers the caller expects.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11183112" y="1911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4389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once in the common/ shared flows — every type calls them the same way.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548640" y="498348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EEF6F1"/>
          </a:solidFill>
          <a:ln w="12700">
            <a:solidFill>
              <a:srgbClr val="DCEBE2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822960" y="5129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BY ALL SIX TYPES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1010412" y="5550408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00A651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1010412" y="555040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2729484" y="5550408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00A651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2729484" y="555040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41" name="Shape 34"/>
          <p:cNvSpPr/>
          <p:nvPr/>
        </p:nvSpPr>
        <p:spPr>
          <a:xfrm>
            <a:off x="4448556" y="5550408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00A651"/>
          </a:solidFill>
          <a:ln/>
        </p:spPr>
      </p:sp>
      <p:sp>
        <p:nvSpPr>
          <p:cNvPr id="42" name="Text 35"/>
          <p:cNvSpPr txBox="1"/>
          <p:nvPr/>
        </p:nvSpPr>
        <p:spPr>
          <a:xfrm>
            <a:off x="4448556" y="555040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6167628" y="5550408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00A651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6167628" y="555040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150" dirty="0"/>
          </a:p>
        </p:txBody>
      </p:sp>
      <p:sp>
        <p:nvSpPr>
          <p:cNvPr id="45" name="Shape 38"/>
          <p:cNvSpPr/>
          <p:nvPr/>
        </p:nvSpPr>
        <p:spPr>
          <a:xfrm>
            <a:off x="7886700" y="5550408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00A651"/>
          </a:solidFill>
          <a:ln/>
        </p:spPr>
      </p:sp>
      <p:sp>
        <p:nvSpPr>
          <p:cNvPr id="46" name="Text 39"/>
          <p:cNvSpPr txBox="1"/>
          <p:nvPr/>
        </p:nvSpPr>
        <p:spPr>
          <a:xfrm>
            <a:off x="7886700" y="555040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JWT-SAML</a:t>
            </a:r>
            <a:endParaRPr lang="en-US" sz="1150" dirty="0"/>
          </a:p>
        </p:txBody>
      </p:sp>
      <p:sp>
        <p:nvSpPr>
          <p:cNvPr id="47" name="Shape 40"/>
          <p:cNvSpPr/>
          <p:nvPr/>
        </p:nvSpPr>
        <p:spPr>
          <a:xfrm>
            <a:off x="9605772" y="5550408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00A651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9605772" y="555040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JWT-Token</a:t>
            </a:r>
            <a:endParaRPr lang="en-US" sz="1150" dirty="0"/>
          </a:p>
        </p:txBody>
      </p:sp>
      <p:sp>
        <p:nvSpPr>
          <p:cNvPr id="49" name="Text 4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– Apigee / ISAM Token Exchange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TYPES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types, one shared engine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920240"/>
                <a:gridCol w="2743200"/>
                <a:gridCol w="2468880"/>
                <a:gridCol w="331927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Caller sends a token?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2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certificate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WS-Trust (XML)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SAML assertion (XML)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bearer token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WS-Trust (XML)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SAML assertion (XML)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(Third-Party)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bearer token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WS-Trust (XML)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SAML assertion (XML)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bearer token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WS-Trust (XML)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SAML assertion (XML)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JWT-SAML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bearer token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JSON, with SAML embedded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JWT-Token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bearer token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— the JWT is the token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1–4 share one request shape (WS-Trust); 5–6 share another (JSON). Types 5 and 6 differ from each other in what comes back.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– Apigee / ISAM Token Exchange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WS-TRUST FAMILY — TYPES 1–4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Light, User, TP, Technical: one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124F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Light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73552" y="1600200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00A65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73552" y="1600200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98464" y="1600200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00A65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98464" y="1600200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723376" y="1600200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00A65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723376" y="1600200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Technical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011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ISAM endpoint / configuration differs between them — the pipeline below is identical.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20574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A3D2C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330452" y="2752344"/>
            <a:ext cx="493776" cy="493776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15" name="Image 0" descr="/tmp/claude-0/-home-user-ISAMflow/9c2980d9-99c2-5261-8e3f-bdd5e4406ca3/scratchpad/isam-deck/asset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9083" y="2860975"/>
            <a:ext cx="276515" cy="27651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21792" y="3319272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request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21792" y="3611880"/>
            <a:ext cx="19110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WS-Trust XML with the client certificate — plus the bearer token for types 2–4.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606040" y="4160520"/>
            <a:ext cx="201168" cy="9144"/>
          </a:xfrm>
          <a:prstGeom prst="line">
            <a:avLst/>
          </a:prstGeom>
          <a:noFill/>
          <a:ln w="25400">
            <a:solidFill>
              <a:srgbClr val="0A3D2C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2807208" y="2606040"/>
            <a:ext cx="20574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A3D2C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589020" y="2752344"/>
            <a:ext cx="493776" cy="493776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21" name="Image 1" descr="/tmp/claude-0/-home-user-ISAMflow/9c2980d9-99c2-5261-8e3f-bdd5e4406ca3/scratchpad/isam-deck/assets/exch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651" y="2860975"/>
            <a:ext cx="276515" cy="27651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2880360" y="3319272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ISAM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2880360" y="3611880"/>
            <a:ext cx="19110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host, automatic failover to secondary.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864608" y="4160520"/>
            <a:ext cx="201168" cy="9144"/>
          </a:xfrm>
          <a:prstGeom prst="line">
            <a:avLst/>
          </a:prstGeom>
          <a:noFill/>
          <a:ln w="25400">
            <a:solidFill>
              <a:srgbClr val="0A3D2C"/>
            </a:solidFill>
            <a:prstDash val="solid"/>
            <a:headEnd type="none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5065776" y="2606040"/>
            <a:ext cx="20574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A3D2C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847588" y="2752344"/>
            <a:ext cx="493776" cy="493776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27" name="Image 2" descr="/tmp/claude-0/-home-user-ISAMflow/9c2980d9-99c2-5261-8e3f-bdd5e4406ca3/scratchpad/isam-deck/asset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219" y="2860975"/>
            <a:ext cx="276515" cy="276515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138928" y="3319272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signature</a:t>
            </a:r>
            <a:endParaRPr lang="en-US" sz="1250" dirty="0"/>
          </a:p>
        </p:txBody>
      </p:sp>
      <p:sp>
        <p:nvSpPr>
          <p:cNvPr id="29" name="Text 24"/>
          <p:cNvSpPr txBox="1"/>
          <p:nvPr/>
        </p:nvSpPr>
        <p:spPr>
          <a:xfrm>
            <a:off x="5138928" y="3611880"/>
            <a:ext cx="19110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returned assertion’s signature is checked.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7123176" y="4160520"/>
            <a:ext cx="201168" cy="9144"/>
          </a:xfrm>
          <a:prstGeom prst="line">
            <a:avLst/>
          </a:prstGeom>
          <a:noFill/>
          <a:ln w="25400">
            <a:solidFill>
              <a:srgbClr val="0A3D2C"/>
            </a:solidFill>
            <a:prstDash val="solid"/>
            <a:headEnd type="none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7324344" y="2606040"/>
            <a:ext cx="20574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A3D2C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8106156" y="2752344"/>
            <a:ext cx="493776" cy="493776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33" name="Image 3" descr="/tmp/claude-0/-home-user-ISAMflow/9c2980d9-99c2-5261-8e3f-bdd5e4406ca3/scratchpad/isam-deck/assets/z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4787" y="2860975"/>
            <a:ext cx="276515" cy="27651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397496" y="3319272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(optional)</a:t>
            </a:r>
            <a:endParaRPr lang="en-US" sz="1250" dirty="0"/>
          </a:p>
        </p:txBody>
      </p:sp>
      <p:sp>
        <p:nvSpPr>
          <p:cNvPr id="35" name="Text 29"/>
          <p:cNvSpPr txBox="1"/>
          <p:nvPr/>
        </p:nvSpPr>
        <p:spPr>
          <a:xfrm>
            <a:off x="7397496" y="3611880"/>
            <a:ext cx="19110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+ base64 the assertion if requested.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9381744" y="4160520"/>
            <a:ext cx="201168" cy="9144"/>
          </a:xfrm>
          <a:prstGeom prst="line">
            <a:avLst/>
          </a:prstGeom>
          <a:noFill/>
          <a:ln w="25400">
            <a:solidFill>
              <a:srgbClr val="0A3D2C"/>
            </a:solidFill>
            <a:prstDash val="solid"/>
            <a:headEnd type="none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9582912" y="2606040"/>
            <a:ext cx="20574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A3D2C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10364724" y="2752344"/>
            <a:ext cx="493776" cy="493776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39" name="Image 4" descr="/tmp/claude-0/-home-user-ISAMflow/9c2980d9-99c2-5261-8e3f-bdd5e4406ca3/scratchpad/isam-deck/asset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3355" y="2860975"/>
            <a:ext cx="276515" cy="276515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9656064" y="3319272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headers</a:t>
            </a:r>
            <a:endParaRPr lang="en-US" sz="1250" dirty="0"/>
          </a:p>
        </p:txBody>
      </p:sp>
      <p:sp>
        <p:nvSpPr>
          <p:cNvPr id="41" name="Text 34"/>
          <p:cNvSpPr txBox="1"/>
          <p:nvPr/>
        </p:nvSpPr>
        <p:spPr>
          <a:xfrm>
            <a:off x="9656064" y="3611880"/>
            <a:ext cx="19110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goes into the response.</a:t>
            </a:r>
            <a:endParaRPr lang="en-US" sz="950" dirty="0"/>
          </a:p>
        </p:txBody>
      </p:sp>
      <p:sp>
        <p:nvSpPr>
          <p:cNvPr id="42" name="Text 35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(Light) has no bearer token — the certificate is its only identity, so it skips OnBehalfOf entirely.</a:t>
            </a:r>
            <a:endParaRPr lang="en-US" sz="1100" dirty="0"/>
          </a:p>
        </p:txBody>
      </p:sp>
      <p:sp>
        <p:nvSpPr>
          <p:cNvPr id="43" name="Text 36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– Apigee / ISAM Token Exchange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FAMILY — TYPES 5–6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JWT-SAML vs. JWT-Token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10896"/>
          </a:xfrm>
          <a:prstGeom prst="roundRect">
            <a:avLst>
              <a:gd name="adj" fmla="val 50000"/>
            </a:avLst>
          </a:prstGeom>
          <a:solidFill>
            <a:srgbClr val="00A6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5 · JWT-SAML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EF6F1"/>
          </a:solidFill>
          <a:ln w="19050">
            <a:solidFill>
              <a:srgbClr val="DCEB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240280"/>
            <a:ext cx="5202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JSON request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EF6F1"/>
          </a:solidFill>
          <a:ln w="19050">
            <a:solidFill>
              <a:srgbClr val="DCEB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926080"/>
            <a:ext cx="5202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ISAM (failover)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EF6F1"/>
          </a:solidFill>
          <a:ln w="19050">
            <a:solidFill>
              <a:srgbClr val="DCEB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611880"/>
            <a:ext cx="5202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signature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EF6F1"/>
          </a:solidFill>
          <a:ln w="19050">
            <a:solidFill>
              <a:srgbClr val="DCEB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4297680"/>
            <a:ext cx="5202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(optional)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EF6F1"/>
          </a:solidFill>
          <a:ln w="19050">
            <a:solidFill>
              <a:srgbClr val="DCEB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4983480"/>
            <a:ext cx="5202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headers — SAML in the JSON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737360"/>
            <a:ext cx="5349240" cy="310896"/>
          </a:xfrm>
          <a:prstGeom prst="roundRect">
            <a:avLst>
              <a:gd name="adj" fmla="val 50000"/>
            </a:avLst>
          </a:prstGeom>
          <a:solidFill>
            <a:srgbClr val="124F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17373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6 · JWT-Token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224028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EF6F1"/>
          </a:solidFill>
          <a:ln w="19050">
            <a:solidFill>
              <a:srgbClr val="DCEB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36792" y="2240280"/>
            <a:ext cx="5202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JSON request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92608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EF6F1"/>
          </a:solidFill>
          <a:ln w="19050">
            <a:solidFill>
              <a:srgbClr val="DCEB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2926080"/>
            <a:ext cx="5202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ISAM (failover)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3611880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BE2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446520" y="361188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signature  —  not needed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297680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BE2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6446520" y="429768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(optional)  —  not needed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498348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EF6F1"/>
          </a:solidFill>
          <a:ln w="19050">
            <a:solidFill>
              <a:srgbClr val="DCEB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36792" y="4983480"/>
            <a:ext cx="5202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headers — the JWT is the token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064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6 has no SAML assertion anywhere — the JWT ISAM returns IS the token, used as-is. It skips signature validation (XML-DSig doesn’t apply to a JWT) and compression (nothing to compress).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– Apigee / ISAM Token Exchange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failover between two ISAM hosts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0" y="1325880"/>
            <a:ext cx="32004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0A3D2C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33872" y="1472184"/>
            <a:ext cx="493776" cy="493776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6" name="Image 0" descr="/tmp/claude-0/-home-user-ISAMflow/9c2980d9-99c2-5261-8e3f-bdd5e4406ca3/scratchpad/isam-deck/asset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2503" y="1580815"/>
            <a:ext cx="276515" cy="27651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53712" y="2039112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ISAM Primary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138160" y="2880360"/>
            <a:ext cx="3200400" cy="1097280"/>
          </a:xfrm>
          <a:prstGeom prst="roundRect">
            <a:avLst>
              <a:gd name="adj" fmla="val 7500"/>
            </a:avLst>
          </a:prstGeom>
          <a:solidFill>
            <a:srgbClr val="124F3B"/>
          </a:solidFill>
          <a:ln w="19050">
            <a:solidFill>
              <a:srgbClr val="124F3B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491472" y="3026664"/>
            <a:ext cx="493776" cy="493776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10" name="Image 1" descr="/tmp/claude-0/-home-user-ISAMflow/9c2980d9-99c2-5261-8e3f-bdd5e4406ca3/scratchpad/isam-deck/asset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103" y="3135295"/>
            <a:ext cx="276515" cy="27651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11312" y="3593592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ISAM Secondary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2011680" y="4434840"/>
            <a:ext cx="6035040" cy="1097280"/>
          </a:xfrm>
          <a:prstGeom prst="roundRect">
            <a:avLst>
              <a:gd name="adj" fmla="val 7500"/>
            </a:avLst>
          </a:prstGeom>
          <a:solidFill>
            <a:srgbClr val="0A3D2C"/>
          </a:solidFill>
          <a:ln w="19050">
            <a:solidFill>
              <a:srgbClr val="0A3D2C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82312" y="4581144"/>
            <a:ext cx="493776" cy="493776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14" name="Image 2" descr="/tmp/claude-0/-home-user-ISAMflow/9c2980d9-99c2-5261-8e3f-bdd5e4406ca3/scratchpad/isam-deck/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943" y="4689775"/>
            <a:ext cx="276515" cy="27651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084832" y="5148072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SAML / JWT response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138160" y="4434840"/>
            <a:ext cx="3200400" cy="1234440"/>
          </a:xfrm>
          <a:prstGeom prst="roundRect">
            <a:avLst>
              <a:gd name="adj" fmla="val 6667"/>
            </a:avLst>
          </a:prstGeom>
          <a:solidFill>
            <a:srgbClr val="FBEAE9"/>
          </a:solidFill>
          <a:ln w="19050">
            <a:solidFill>
              <a:srgbClr val="B3261E"/>
            </a:solidFill>
            <a:prstDash val="solid"/>
          </a:ln>
          <a:effectLst>
            <a:outerShdw sx="100000" sy="100000" kx="0" ky="0" algn="bl" rotWithShape="0" blurRad="63500" dist="25400" dir="5400000">
              <a:srgbClr val="1B3A2E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491472" y="4581144"/>
            <a:ext cx="493776" cy="493776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18" name="Image 3" descr="/tmp/claude-0/-home-user-ISAMflow/9c2980d9-99c2-5261-8e3f-bdd5e4406ca3/scratchpad/isam-deck/asset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0103" y="4689775"/>
            <a:ext cx="276515" cy="27651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211312" y="5148072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 Bad Gateway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8211312" y="5440680"/>
            <a:ext cx="3054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BOTH hosts fail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 flipH="1">
            <a:off x="3108960" y="2423160"/>
            <a:ext cx="1920240" cy="2011680"/>
          </a:xfrm>
          <a:prstGeom prst="line">
            <a:avLst/>
          </a:prstGeom>
          <a:noFill/>
          <a:ln w="25400">
            <a:solidFill>
              <a:srgbClr val="00A651"/>
            </a:solidFill>
            <a:prstDash val="solid"/>
            <a:headEnd type="none"/>
            <a:tailEnd type="triangle"/>
          </a:ln>
        </p:spPr>
      </p:sp>
      <p:sp>
        <p:nvSpPr>
          <p:cNvPr id="22" name="Shape 16"/>
          <p:cNvSpPr/>
          <p:nvPr/>
        </p:nvSpPr>
        <p:spPr>
          <a:xfrm flipH="1">
            <a:off x="7315200" y="3977640"/>
            <a:ext cx="1554480" cy="457200"/>
          </a:xfrm>
          <a:prstGeom prst="line">
            <a:avLst/>
          </a:prstGeom>
          <a:noFill/>
          <a:ln w="25400">
            <a:solidFill>
              <a:srgbClr val="00A651"/>
            </a:solidFill>
            <a:prstDash val="solid"/>
            <a:headEnd type="none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7406640" y="2423160"/>
            <a:ext cx="1280160" cy="457200"/>
          </a:xfrm>
          <a:prstGeom prst="line">
            <a:avLst/>
          </a:prstGeom>
          <a:noFill/>
          <a:ln w="25400">
            <a:solidFill>
              <a:srgbClr val="5C7268"/>
            </a:solidFill>
            <a:prstDash val="solid"/>
            <a:headEnd type="none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5852160" y="2496312"/>
            <a:ext cx="1463040" cy="274320"/>
          </a:xfrm>
          <a:prstGeom prst="roundRect">
            <a:avLst>
              <a:gd name="adj" fmla="val 56667"/>
            </a:avLst>
          </a:prstGeom>
          <a:solidFill>
            <a:srgbClr val="EEF6F1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5852160" y="2496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/ 500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 flipH="1">
            <a:off x="8686800" y="3977640"/>
            <a:ext cx="2103120" cy="457200"/>
          </a:xfrm>
          <a:prstGeom prst="line">
            <a:avLst/>
          </a:prstGeom>
          <a:noFill/>
          <a:ln w="25400">
            <a:solidFill>
              <a:srgbClr val="B3261E"/>
            </a:solidFill>
            <a:prstDash val="solid"/>
            <a:headEnd type="none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9235440" y="4050792"/>
            <a:ext cx="1737360" cy="274320"/>
          </a:xfrm>
          <a:prstGeom prst="roundRect">
            <a:avLst>
              <a:gd name="adj" fmla="val 56667"/>
            </a:avLst>
          </a:prstGeom>
          <a:solidFill>
            <a:srgbClr val="FBEAE9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9235440" y="4050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/ 500 again</a:t>
            </a:r>
            <a:endParaRPr lang="en-US" sz="95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caller only ever sees a 502 if both the primary and the secondary host are down at the same time.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– Apigee / ISAM Token Exchange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checks on every single call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14344" cy="2834640"/>
          </a:xfrm>
          <a:prstGeom prst="roundRect">
            <a:avLst>
              <a:gd name="adj" fmla="val 2581"/>
            </a:avLst>
          </a:prstGeom>
          <a:solidFill>
            <a:srgbClr val="EEF6F1"/>
          </a:solidFill>
          <a:ln w="12700">
            <a:solidFill>
              <a:srgbClr val="DCEBE2"/>
            </a:solidFill>
            <a:prstDash val="solid"/>
          </a:ln>
          <a:effectLst>
            <a:outerShdw sx="100000" sy="100000" kx="0" ky="0" algn="bl" rotWithShape="0" blurRad="76200" dist="25400" dir="5400000">
              <a:srgbClr val="1B3A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121408"/>
            <a:ext cx="457200" cy="457200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6" name="Image 0" descr="/tmp/claude-0/-home-user-ISAMflow/9c2980d9-99c2-5261-8e3f-bdd5e4406ca3/scratchpad/isam-deck/assets/id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22199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53312" y="2121408"/>
            <a:ext cx="250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TLS client certificate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688336"/>
            <a:ext cx="311200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 terminates mTLS itself; the caller’s certificate and Distinguished Name are extracted once and reused by every request type.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37304" y="1920240"/>
            <a:ext cx="3514344" cy="2834640"/>
          </a:xfrm>
          <a:prstGeom prst="roundRect">
            <a:avLst>
              <a:gd name="adj" fmla="val 2581"/>
            </a:avLst>
          </a:prstGeom>
          <a:solidFill>
            <a:srgbClr val="EEF6F1"/>
          </a:solidFill>
          <a:ln w="12700">
            <a:solidFill>
              <a:srgbClr val="DCEBE2"/>
            </a:solidFill>
            <a:prstDash val="solid"/>
          </a:ln>
          <a:effectLst>
            <a:outerShdw sx="100000" sy="100000" kx="0" ky="0" algn="bl" rotWithShape="0" blurRad="76200" dist="25400" dir="5400000">
              <a:srgbClr val="1B3A2E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38472" y="2121408"/>
            <a:ext cx="457200" cy="457200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11" name="Image 1" descr="/tmp/claude-0/-home-user-ISAMflow/9c2980d9-99c2-5261-8e3f-bdd5e4406ca3/scratchpad/isam-deck/asset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056" y="222199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41976" y="2121408"/>
            <a:ext cx="250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signature validation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38472" y="2688336"/>
            <a:ext cx="311200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SAML assertion’s signature is cryptographically verified against the certificate embedded in that same assertion — with optional certificate pinning.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25968" y="1920240"/>
            <a:ext cx="3514344" cy="2834640"/>
          </a:xfrm>
          <a:prstGeom prst="roundRect">
            <a:avLst>
              <a:gd name="adj" fmla="val 2581"/>
            </a:avLst>
          </a:prstGeom>
          <a:solidFill>
            <a:srgbClr val="EEF6F1"/>
          </a:solidFill>
          <a:ln w="12700">
            <a:solidFill>
              <a:srgbClr val="DCEBE2"/>
            </a:solidFill>
            <a:prstDash val="solid"/>
          </a:ln>
          <a:effectLst>
            <a:outerShdw sx="100000" sy="100000" kx="0" ky="0" algn="bl" rotWithShape="0" blurRad="76200" dist="25400" dir="5400000">
              <a:srgbClr val="1B3A2E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7136" y="2121408"/>
            <a:ext cx="457200" cy="457200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16" name="Image 2" descr="/tmp/claude-0/-home-user-ISAMflow/9c2980d9-99c2-5261-8e3f-bdd5e4406ca3/scratchpad/isam-deck/assets/certific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720" y="222199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30640" y="2121408"/>
            <a:ext cx="250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minimal transport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27136" y="2688336"/>
            <a:ext cx="311200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and Distinguished Names travel to ISAM as bare base64 — no PEM headers, no line breaks — exactly the form expected.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074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and clean transport apply to every call; signature validation applies wherever a SAML assertion comes back (types 1–5, not type 6).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– Apigee / ISAM Token Exchange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and testing without a live ISAM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EEF6F1"/>
          </a:solidFill>
          <a:ln w="12700">
            <a:solidFill>
              <a:srgbClr val="DCEBE2"/>
            </a:solidFill>
            <a:prstDash val="solid"/>
          </a:ln>
          <a:effectLst>
            <a:outerShdw sx="100000" sy="100000" kx="0" ky="0" algn="bl" rotWithShape="0" blurRad="76200" dist="25400" dir="5400000">
              <a:srgbClr val="1B3A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167128"/>
            <a:ext cx="457200" cy="457200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6" name="Image 0" descr="/tmp/claude-0/-home-user-ISAMflow/9c2980d9-99c2-5261-8e3f-bdd5e4406ca3/scratchpad/isam-deck/asset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26771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53312" y="216712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Mock-ISAM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734056"/>
            <a:ext cx="494690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test proxy that plays the role of ISAM: it returns a realistic response for every one of the six request types, including signed test assertions and deliberately tampered / invalid ones for negative testing.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96596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EEF6F1"/>
          </a:solidFill>
          <a:ln w="12700">
            <a:solidFill>
              <a:srgbClr val="DCEBE2"/>
            </a:solidFill>
            <a:prstDash val="solid"/>
          </a:ln>
          <a:effectLst>
            <a:outerShdw sx="100000" sy="100000" kx="0" ky="0" algn="bl" rotWithShape="0" blurRad="76200" dist="25400" dir="5400000">
              <a:srgbClr val="1B3A2E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2167128"/>
            <a:ext cx="457200" cy="457200"/>
          </a:xfrm>
          <a:prstGeom prst="ellipse">
            <a:avLst/>
          </a:prstGeom>
          <a:solidFill>
            <a:srgbClr val="00A651"/>
          </a:solidFill>
          <a:ln/>
        </p:spPr>
      </p:sp>
      <p:pic>
        <p:nvPicPr>
          <p:cNvPr id="11" name="Image 1" descr="/tmp/claude-0/-home-user-ISAMflow/9c2980d9-99c2-5261-8e3f-bdd5e4406ca3/scratchpad/isam-deck/assets/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2677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68312" y="216712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Test-Caller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64808" y="2734056"/>
            <a:ext cx="494690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3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proxy with a single entry point to exercise any of the six flows during development — pick a type, send a request, see the result — no real client certificate or live ISAM connection required.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846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live under dev-testing/ in the repository, alongside a README that walks through provisioning the test KVM entries.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– Apigee / ISAM Token Exchange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ISAMflow/9c2980d9-99c2-5261-8e3f-bdd5e4406ca3/scratchpad/isam-deck/assets/layers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-1097280" y="292608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21792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gateway, six ways to reach ISAM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24F3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25146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A6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types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one shared engine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219456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24F3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429000" y="25146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A6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3611880" y="3566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 hosts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3977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automatic failover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219456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24F3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17920" y="25146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A6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3566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to fix bugs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977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six — common building blocks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006840" y="219456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24F3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006840" y="25146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A6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9" name="Text 16"/>
          <p:cNvSpPr txBox="1"/>
          <p:nvPr/>
        </p:nvSpPr>
        <p:spPr>
          <a:xfrm>
            <a:off x="9189720" y="3566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ISAM needed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189720" y="3977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and test locally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ISAMflow – Apigee / ISAM Token Exchange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/tmp/claude-0/-home-user-ISAMflow/9c2980d9-99c2-5261-8e3f-bdd5e4406ca3/scratchpad/isam-deck/assets/gateway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248" y="2240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32004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DB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ISAM Token Exchange via Apigee — BNP Paribas Fortis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BNP Paribas Fortis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ISAM Token Exchange via Apigee</dc:title>
  <dc:subject>PptxGenJS Presentation</dc:subject>
  <dc:creator>ISAMflow</dc:creator>
  <cp:lastModifiedBy>ISAMflow</cp:lastModifiedBy>
  <cp:revision>1</cp:revision>
  <dcterms:created xsi:type="dcterms:W3CDTF">2026-09-24T09:52:03Z</dcterms:created>
  <dcterms:modified xsi:type="dcterms:W3CDTF">2026-09-24T09:52:03Z</dcterms:modified>
</cp:coreProperties>
</file>